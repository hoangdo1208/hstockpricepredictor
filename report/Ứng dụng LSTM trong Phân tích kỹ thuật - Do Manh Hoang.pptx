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8" r:id="rId1"/>
  </p:sldMasterIdLst>
  <p:notesMasterIdLst>
    <p:notesMasterId r:id="rId14"/>
  </p:notesMasterIdLst>
  <p:sldIdLst>
    <p:sldId id="256" r:id="rId2"/>
    <p:sldId id="257" r:id="rId3"/>
    <p:sldId id="266" r:id="rId4"/>
    <p:sldId id="258" r:id="rId5"/>
    <p:sldId id="268" r:id="rId6"/>
    <p:sldId id="259" r:id="rId7"/>
    <p:sldId id="260" r:id="rId8"/>
    <p:sldId id="261" r:id="rId9"/>
    <p:sldId id="262" r:id="rId10"/>
    <p:sldId id="263" r:id="rId11"/>
    <p:sldId id="264" r:id="rId12"/>
    <p:sldId id="265"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490" autoAdjust="0"/>
  </p:normalViewPr>
  <p:slideViewPr>
    <p:cSldViewPr>
      <p:cViewPr varScale="1">
        <p:scale>
          <a:sx n="100" d="100"/>
          <a:sy n="100" d="100"/>
        </p:scale>
        <p:origin x="-1944"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96E8555-6B94-459D-9D82-B4AAB85CDA5A}" type="datetimeFigureOut">
              <a:rPr lang="en-US" smtClean="0"/>
              <a:t>1/20/2026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03B77-E789-464A-B87D-F417A54618B5}" type="slidenum">
              <a:rPr lang="en-US" smtClean="0"/>
              <a:t>‹#›</a:t>
            </a:fld>
            <a:endParaRPr lang="en-US"/>
          </a:p>
        </p:txBody>
      </p:sp>
    </p:spTree>
    <p:extLst>
      <p:ext uri="{BB962C8B-B14F-4D97-AF65-F5344CB8AC3E}">
        <p14:creationId xmlns:p14="http://schemas.microsoft.com/office/powerpoint/2010/main" val="1561514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35803B77-E789-464A-B87D-F417A54618B5}" type="slidenum">
              <a:rPr lang="en-US" smtClean="0"/>
              <a:t>2</a:t>
            </a:fld>
            <a:endParaRPr lang="en-US"/>
          </a:p>
        </p:txBody>
      </p:sp>
    </p:spTree>
    <p:extLst>
      <p:ext uri="{BB962C8B-B14F-4D97-AF65-F5344CB8AC3E}">
        <p14:creationId xmlns:p14="http://schemas.microsoft.com/office/powerpoint/2010/main" val="1849003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624C329D-957B-42CE-AD10-BB686921068A}" type="datetimeFigureOut">
              <a:rPr lang="en-US" smtClean="0"/>
              <a:t>1/20/2026</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54F071CE-2CD0-4DA1-8C45-39E763431F71}" type="slidenum">
              <a:rPr lang="en-US" smtClean="0"/>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624C329D-957B-42CE-AD10-BB686921068A}"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54F071CE-2CD0-4DA1-8C45-39E763431F71}" type="slidenum">
              <a:rPr lang="en-US" smtClean="0"/>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624C329D-957B-42CE-AD10-BB686921068A}" type="datetimeFigureOut">
              <a:rPr lang="en-US" smtClean="0"/>
              <a:t>1/20/2026</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54F071CE-2CD0-4DA1-8C45-39E763431F71}" type="slidenum">
              <a:rPr lang="en-US" smtClean="0"/>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624C329D-957B-42CE-AD10-BB686921068A}"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F071CE-2CD0-4DA1-8C45-39E763431F71}" type="slidenum">
              <a:rPr lang="en-US" smtClean="0"/>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624C329D-957B-42CE-AD10-BB686921068A}" type="datetimeFigureOut">
              <a:rPr lang="en-US" smtClean="0"/>
              <a:t>1/20/2026</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54F071CE-2CD0-4DA1-8C45-39E763431F71}" type="slidenum">
              <a:rPr lang="en-US" smtClean="0"/>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624C329D-957B-42CE-AD10-BB686921068A}" type="datetimeFigureOut">
              <a:rPr lang="en-US" smtClean="0"/>
              <a:t>1/20/2026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54F071CE-2CD0-4DA1-8C45-39E763431F7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624C329D-957B-42CE-AD10-BB686921068A}" type="datetimeFigureOut">
              <a:rPr lang="en-US" smtClean="0"/>
              <a:t>1/20/2026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54F071CE-2CD0-4DA1-8C45-39E763431F7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54F071CE-2CD0-4DA1-8C45-39E763431F71}" type="slidenum">
              <a:rPr lang="en-US" smtClean="0"/>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624C329D-957B-42CE-AD10-BB686921068A}" type="datetimeFigureOut">
              <a:rPr lang="en-US" smtClean="0"/>
              <a:t>1/20/2026</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54F071CE-2CD0-4DA1-8C45-39E763431F71}" type="slidenum">
              <a:rPr lang="en-US" smtClean="0"/>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624C329D-957B-42CE-AD10-BB686921068A}" type="datetimeFigureOut">
              <a:rPr lang="en-US" smtClean="0"/>
              <a:t>1/20/2026</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24C329D-957B-42CE-AD10-BB686921068A}"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F071CE-2CD0-4DA1-8C45-39E763431F71}"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54F071CE-2CD0-4DA1-8C45-39E763431F71}" type="slidenum">
              <a:rPr lang="en-US" smtClean="0"/>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24C329D-957B-42CE-AD10-BB686921068A}"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624C329D-957B-42CE-AD10-BB686921068A}" type="datetimeFigureOut">
              <a:rPr lang="en-US" smtClean="0"/>
              <a:t>1/20/2026</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54F071CE-2CD0-4DA1-8C45-39E763431F71}" type="slidenum">
              <a:rPr lang="en-US" smtClean="0"/>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vi-VN" dirty="0"/>
              <a:t>Từ </a:t>
            </a:r>
            <a:r>
              <a:rPr lang="en-US" dirty="0" smtClean="0"/>
              <a:t>B</a:t>
            </a:r>
            <a:r>
              <a:rPr lang="vi-VN" dirty="0" smtClean="0"/>
              <a:t>iểu </a:t>
            </a:r>
            <a:r>
              <a:rPr lang="en-US" dirty="0" smtClean="0"/>
              <a:t>Đ</a:t>
            </a:r>
            <a:r>
              <a:rPr lang="vi-VN" dirty="0" smtClean="0"/>
              <a:t>ồ </a:t>
            </a:r>
            <a:r>
              <a:rPr lang="en-US" dirty="0" smtClean="0"/>
              <a:t>T</a:t>
            </a:r>
            <a:r>
              <a:rPr lang="vi-VN" dirty="0" smtClean="0"/>
              <a:t>ruyền </a:t>
            </a:r>
            <a:r>
              <a:rPr lang="en-US" dirty="0" smtClean="0"/>
              <a:t>T</a:t>
            </a:r>
            <a:r>
              <a:rPr lang="vi-VN" dirty="0" smtClean="0"/>
              <a:t>hống </a:t>
            </a:r>
            <a:r>
              <a:rPr lang="en-US" dirty="0"/>
              <a:t>Đ</a:t>
            </a:r>
            <a:r>
              <a:rPr lang="vi-VN" dirty="0" smtClean="0"/>
              <a:t>ến </a:t>
            </a:r>
            <a:r>
              <a:rPr lang="en-US" dirty="0" smtClean="0"/>
              <a:t>D</a:t>
            </a:r>
            <a:r>
              <a:rPr lang="vi-VN" dirty="0" smtClean="0"/>
              <a:t>ự </a:t>
            </a:r>
            <a:r>
              <a:rPr lang="en-US" dirty="0" smtClean="0"/>
              <a:t>B</a:t>
            </a:r>
            <a:r>
              <a:rPr lang="vi-VN" dirty="0" smtClean="0"/>
              <a:t>áo </a:t>
            </a:r>
            <a:r>
              <a:rPr lang="en-US" dirty="0" smtClean="0"/>
              <a:t>B</a:t>
            </a:r>
            <a:r>
              <a:rPr lang="vi-VN" dirty="0" smtClean="0"/>
              <a:t>ằng </a:t>
            </a:r>
            <a:r>
              <a:rPr lang="en-US" dirty="0" smtClean="0"/>
              <a:t>T</a:t>
            </a:r>
            <a:r>
              <a:rPr lang="vi-VN" dirty="0" smtClean="0"/>
              <a:t>rí </a:t>
            </a:r>
            <a:r>
              <a:rPr lang="en-US" dirty="0" smtClean="0"/>
              <a:t>T</a:t>
            </a:r>
            <a:r>
              <a:rPr lang="vi-VN" dirty="0" smtClean="0"/>
              <a:t>uệ </a:t>
            </a:r>
            <a:r>
              <a:rPr lang="en-US" dirty="0" smtClean="0"/>
              <a:t>N</a:t>
            </a:r>
            <a:r>
              <a:rPr lang="vi-VN" dirty="0" smtClean="0"/>
              <a:t>hân </a:t>
            </a:r>
            <a:r>
              <a:rPr lang="en-US" dirty="0" smtClean="0"/>
              <a:t>T</a:t>
            </a:r>
            <a:r>
              <a:rPr lang="vi-VN" dirty="0" smtClean="0"/>
              <a:t>ạo</a:t>
            </a:r>
            <a:endParaRPr lang="en-US" dirty="0"/>
          </a:p>
        </p:txBody>
      </p:sp>
      <p:sp>
        <p:nvSpPr>
          <p:cNvPr id="2" name="Title 1"/>
          <p:cNvSpPr>
            <a:spLocks noGrp="1"/>
          </p:cNvSpPr>
          <p:nvPr>
            <p:ph type="ctrTitle"/>
          </p:nvPr>
        </p:nvSpPr>
        <p:spPr/>
        <p:txBody>
          <a:bodyPr>
            <a:normAutofit fontScale="90000"/>
          </a:bodyPr>
          <a:lstStyle/>
          <a:p>
            <a:r>
              <a:rPr lang="en-US" dirty="0" err="1"/>
              <a:t>Mạng</a:t>
            </a:r>
            <a:r>
              <a:rPr lang="en-US" dirty="0"/>
              <a:t> LSTM </a:t>
            </a:r>
            <a:r>
              <a:rPr lang="en-US" dirty="0" err="1"/>
              <a:t>Đa</a:t>
            </a:r>
            <a:r>
              <a:rPr lang="en-US" dirty="0"/>
              <a:t> </a:t>
            </a:r>
            <a:r>
              <a:rPr lang="en-US" dirty="0" err="1"/>
              <a:t>Biến</a:t>
            </a:r>
            <a:r>
              <a:rPr lang="en-US" dirty="0"/>
              <a:t> Cho </a:t>
            </a:r>
            <a:r>
              <a:rPr lang="en-US" dirty="0" err="1"/>
              <a:t>Dự</a:t>
            </a:r>
            <a:r>
              <a:rPr lang="en-US" dirty="0"/>
              <a:t> </a:t>
            </a:r>
            <a:r>
              <a:rPr lang="en-US" dirty="0" err="1"/>
              <a:t>Báo</a:t>
            </a:r>
            <a:r>
              <a:rPr lang="en-US" dirty="0"/>
              <a:t> </a:t>
            </a:r>
            <a:r>
              <a:rPr lang="en-US" dirty="0" err="1"/>
              <a:t>Giá</a:t>
            </a:r>
            <a:r>
              <a:rPr lang="en-US" dirty="0"/>
              <a:t> </a:t>
            </a:r>
            <a:r>
              <a:rPr lang="en-US" dirty="0" err="1"/>
              <a:t>Chứng</a:t>
            </a:r>
            <a:r>
              <a:rPr lang="en-US" dirty="0"/>
              <a:t> </a:t>
            </a:r>
            <a:r>
              <a:rPr lang="en-US" dirty="0" err="1"/>
              <a:t>Khoán</a:t>
            </a:r>
            <a:r>
              <a:rPr lang="en-US" dirty="0"/>
              <a:t> </a:t>
            </a:r>
            <a:r>
              <a:rPr lang="en-US" dirty="0" err="1"/>
              <a:t>Ngắn</a:t>
            </a:r>
            <a:r>
              <a:rPr lang="en-US" dirty="0"/>
              <a:t> </a:t>
            </a:r>
            <a:r>
              <a:rPr lang="en-US" dirty="0" err="1"/>
              <a:t>Hạn</a:t>
            </a:r>
            <a:endParaRPr lang="en-US" dirty="0"/>
          </a:p>
        </p:txBody>
      </p:sp>
      <p:sp>
        <p:nvSpPr>
          <p:cNvPr id="4" name="Subtitle 2"/>
          <p:cNvSpPr txBox="1">
            <a:spLocks/>
          </p:cNvSpPr>
          <p:nvPr/>
        </p:nvSpPr>
        <p:spPr>
          <a:xfrm>
            <a:off x="533400" y="3733800"/>
            <a:ext cx="7854696" cy="1399736"/>
          </a:xfrm>
          <a:prstGeom prst="rect">
            <a:avLst/>
          </a:prstGeom>
        </p:spPr>
        <p:txBody>
          <a:bodyPr vert="horz" lIns="0" rIns="18288" anchor="b">
            <a:normAutofit/>
          </a:bodyPr>
          <a:lstStyle>
            <a:lvl1pPr marL="0" marR="45720" indent="0" algn="r" rtl="0" eaLnBrk="1" latinLnBrk="0" hangingPunct="1">
              <a:spcBef>
                <a:spcPct val="20000"/>
              </a:spcBef>
              <a:buClr>
                <a:schemeClr val="accent3"/>
              </a:buClr>
              <a:buSzPct val="95000"/>
              <a:buFont typeface="Wingdings 2"/>
              <a:buNone/>
              <a:defRPr kumimoji="0" sz="2600" kern="1200">
                <a:solidFill>
                  <a:schemeClr val="tx1"/>
                </a:solidFill>
                <a:latin typeface="+mn-lt"/>
                <a:ea typeface="+mn-ea"/>
                <a:cs typeface="+mn-cs"/>
              </a:defRPr>
            </a:lvl1pPr>
            <a:lvl2pPr marL="457200" indent="0" algn="ctr" rtl="0" eaLnBrk="1" latinLnBrk="0" hangingPunct="1">
              <a:spcBef>
                <a:spcPct val="20000"/>
              </a:spcBef>
              <a:buClr>
                <a:schemeClr val="accent1"/>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ct val="20000"/>
              </a:spcBef>
              <a:buClr>
                <a:schemeClr val="accent2"/>
              </a:buClr>
              <a:buSzPct val="70000"/>
              <a:buFont typeface="Wingdings 2"/>
              <a:buNone/>
              <a:defRPr kumimoji="0" sz="2100" kern="1200">
                <a:solidFill>
                  <a:schemeClr val="tx1"/>
                </a:solidFill>
                <a:latin typeface="+mn-lt"/>
                <a:ea typeface="+mn-ea"/>
                <a:cs typeface="+mn-cs"/>
              </a:defRPr>
            </a:lvl3pPr>
            <a:lvl4pPr marL="1371600" indent="0" algn="ctr" rtl="0" eaLnBrk="1" latinLnBrk="0" hangingPunct="1">
              <a:spcBef>
                <a:spcPct val="20000"/>
              </a:spcBef>
              <a:buClr>
                <a:schemeClr val="accent3"/>
              </a:buClr>
              <a:buSzPct val="65000"/>
              <a:buFont typeface="Wingdings 2"/>
              <a:buNone/>
              <a:defRPr kumimoji="0" sz="2000" kern="1200">
                <a:solidFill>
                  <a:schemeClr val="tx1"/>
                </a:solidFill>
                <a:latin typeface="+mn-lt"/>
                <a:ea typeface="+mn-ea"/>
                <a:cs typeface="+mn-cs"/>
              </a:defRPr>
            </a:lvl4pPr>
            <a:lvl5pPr marL="1828800" indent="0" algn="ctr" rtl="0" eaLnBrk="1" latinLnBrk="0" hangingPunct="1">
              <a:spcBef>
                <a:spcPct val="20000"/>
              </a:spcBef>
              <a:buClr>
                <a:schemeClr val="accent4"/>
              </a:buClr>
              <a:buSzPct val="65000"/>
              <a:buFont typeface="Wingdings 2"/>
              <a:buNone/>
              <a:defRPr kumimoji="0" sz="2000" kern="1200">
                <a:solidFill>
                  <a:schemeClr val="tx1"/>
                </a:solidFill>
                <a:latin typeface="+mn-lt"/>
                <a:ea typeface="+mn-ea"/>
                <a:cs typeface="+mn-cs"/>
              </a:defRPr>
            </a:lvl5pPr>
            <a:lvl6pPr marL="2286000" indent="0" algn="ctr" rtl="0" eaLnBrk="1" latinLnBrk="0" hangingPunct="1">
              <a:spcBef>
                <a:spcPct val="20000"/>
              </a:spcBef>
              <a:buClr>
                <a:schemeClr val="accent5"/>
              </a:buClr>
              <a:buSzPct val="80000"/>
              <a:buFont typeface="Wingdings 2"/>
              <a:buNone/>
              <a:defRPr kumimoji="0" sz="1800" kern="1200">
                <a:solidFill>
                  <a:schemeClr val="tx1"/>
                </a:solidFill>
                <a:latin typeface="+mn-lt"/>
                <a:ea typeface="+mn-ea"/>
                <a:cs typeface="+mn-cs"/>
              </a:defRPr>
            </a:lvl6pPr>
            <a:lvl7pPr marL="2743200" indent="0" algn="ctr" rtl="0" eaLnBrk="1" latinLnBrk="0" hangingPunct="1">
              <a:spcBef>
                <a:spcPct val="20000"/>
              </a:spcBef>
              <a:buClr>
                <a:schemeClr val="accent6"/>
              </a:buClr>
              <a:buSzPct val="80000"/>
              <a:buFont typeface="Wingdings 2"/>
              <a:buNone/>
              <a:defRPr kumimoji="0" sz="1600" kern="1200" baseline="0">
                <a:solidFill>
                  <a:schemeClr val="tx1"/>
                </a:solidFill>
                <a:latin typeface="+mn-lt"/>
                <a:ea typeface="+mn-ea"/>
                <a:cs typeface="+mn-cs"/>
              </a:defRPr>
            </a:lvl7pPr>
            <a:lvl8pPr marL="3200400" indent="0" algn="ctr" rtl="0" eaLnBrk="1" latinLnBrk="0" hangingPunct="1">
              <a:spcBef>
                <a:spcPct val="20000"/>
              </a:spcBef>
              <a:buClr>
                <a:schemeClr val="tx2"/>
              </a:buClr>
              <a:buNone/>
              <a:defRPr kumimoji="0" sz="1600" kern="1200">
                <a:solidFill>
                  <a:schemeClr val="tx1"/>
                </a:solidFill>
                <a:latin typeface="+mn-lt"/>
                <a:ea typeface="+mn-ea"/>
                <a:cs typeface="+mn-cs"/>
              </a:defRPr>
            </a:lvl8pPr>
            <a:lvl9pPr marL="3657600" indent="0" algn="ctr" rtl="0" eaLnBrk="1" latinLnBrk="0" hangingPunct="1">
              <a:spcBef>
                <a:spcPct val="20000"/>
              </a:spcBef>
              <a:buClr>
                <a:schemeClr val="tx2"/>
              </a:buClr>
              <a:buFontTx/>
              <a:buNone/>
              <a:defRPr kumimoji="0" sz="1400" kern="1200" baseline="0">
                <a:solidFill>
                  <a:schemeClr val="tx1"/>
                </a:solidFill>
                <a:latin typeface="+mn-lt"/>
                <a:ea typeface="+mn-ea"/>
                <a:cs typeface="+mn-cs"/>
              </a:defRPr>
            </a:lvl9pPr>
          </a:lstStyle>
          <a:p>
            <a:pPr algn="ctr"/>
            <a:r>
              <a:rPr lang="vi-VN" sz="1800" dirty="0"/>
              <a:t>Người trình bày: Đỗ Mạnh Hoàng</a:t>
            </a:r>
            <a:r>
              <a:rPr lang="en-US" sz="1800" dirty="0"/>
              <a:t> </a:t>
            </a:r>
            <a:r>
              <a:rPr lang="en-US" sz="1800" dirty="0" smtClean="0"/>
              <a:t>– </a:t>
            </a:r>
            <a:r>
              <a:rPr lang="en-US" sz="1800" dirty="0" err="1" smtClean="0"/>
              <a:t>Đinh</a:t>
            </a:r>
            <a:r>
              <a:rPr lang="en-US" sz="1800" dirty="0" smtClean="0"/>
              <a:t> </a:t>
            </a:r>
            <a:r>
              <a:rPr lang="en-US" sz="1800" dirty="0" err="1" smtClean="0"/>
              <a:t>Trịnh</a:t>
            </a:r>
            <a:r>
              <a:rPr lang="en-US" sz="1800" dirty="0" smtClean="0"/>
              <a:t> </a:t>
            </a:r>
            <a:r>
              <a:rPr lang="en-US" sz="1800" dirty="0" err="1" smtClean="0"/>
              <a:t>Thanh</a:t>
            </a:r>
            <a:r>
              <a:rPr lang="en-US" sz="1800" dirty="0" smtClean="0"/>
              <a:t> </a:t>
            </a:r>
            <a:r>
              <a:rPr lang="en-US" sz="1800" dirty="0" err="1" smtClean="0"/>
              <a:t>Vy</a:t>
            </a:r>
            <a:endParaRPr lang="en-US" sz="1800" dirty="0"/>
          </a:p>
        </p:txBody>
      </p:sp>
    </p:spTree>
    <p:extLst>
      <p:ext uri="{BB962C8B-B14F-4D97-AF65-F5344CB8AC3E}">
        <p14:creationId xmlns:p14="http://schemas.microsoft.com/office/powerpoint/2010/main" val="9320254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2800" b="1" cap="all" dirty="0" err="1"/>
              <a:t>Phân</a:t>
            </a:r>
            <a:r>
              <a:rPr lang="en-US" sz="2800" b="1" cap="all" dirty="0"/>
              <a:t> </a:t>
            </a:r>
            <a:r>
              <a:rPr lang="en-US" sz="2800" b="1" cap="all" dirty="0" err="1"/>
              <a:t>tích</a:t>
            </a:r>
            <a:r>
              <a:rPr lang="en-US" sz="2800" b="1" cap="all" dirty="0"/>
              <a:t> </a:t>
            </a:r>
            <a:r>
              <a:rPr lang="en-US" sz="2800" b="1" cap="all" dirty="0" err="1"/>
              <a:t>kỹ</a:t>
            </a:r>
            <a:r>
              <a:rPr lang="en-US" sz="2800" b="1" cap="all" dirty="0"/>
              <a:t> </a:t>
            </a:r>
            <a:r>
              <a:rPr lang="en-US" sz="2800" b="1" cap="all" dirty="0" err="1"/>
              <a:t>thuật</a:t>
            </a:r>
            <a:r>
              <a:rPr lang="en-US" sz="2800" b="1" cap="all" dirty="0"/>
              <a:t> </a:t>
            </a:r>
            <a:r>
              <a:rPr lang="en-US" sz="2800" b="1" cap="all" dirty="0" err="1"/>
              <a:t>là</a:t>
            </a:r>
            <a:r>
              <a:rPr lang="en-US" sz="2800" b="1" cap="all" dirty="0"/>
              <a:t> </a:t>
            </a:r>
            <a:r>
              <a:rPr lang="en-US" sz="2800" b="1" cap="all" dirty="0" err="1"/>
              <a:t>gì</a:t>
            </a:r>
            <a:r>
              <a:rPr lang="en-US" sz="2800" b="1" cap="all" dirty="0" smtClean="0"/>
              <a:t>?</a:t>
            </a:r>
            <a:endParaRPr lang="en-US" sz="2800" dirty="0"/>
          </a:p>
        </p:txBody>
      </p:sp>
      <p:graphicFrame>
        <p:nvGraphicFramePr>
          <p:cNvPr id="10" name="Table 9"/>
          <p:cNvGraphicFramePr>
            <a:graphicFrameLocks noGrp="1"/>
          </p:cNvGraphicFramePr>
          <p:nvPr>
            <p:extLst>
              <p:ext uri="{D42A27DB-BD31-4B8C-83A1-F6EECF244321}">
                <p14:modId xmlns:p14="http://schemas.microsoft.com/office/powerpoint/2010/main" val="1844180074"/>
              </p:ext>
            </p:extLst>
          </p:nvPr>
        </p:nvGraphicFramePr>
        <p:xfrm>
          <a:off x="152400" y="2971800"/>
          <a:ext cx="8839200" cy="2169160"/>
        </p:xfrm>
        <a:graphic>
          <a:graphicData uri="http://schemas.openxmlformats.org/drawingml/2006/table">
            <a:tbl>
              <a:tblPr firstRow="1" bandRow="1">
                <a:tableStyleId>{F2DE63D5-997A-4646-A377-4702673A728D}</a:tableStyleId>
              </a:tblPr>
              <a:tblGrid>
                <a:gridCol w="2946400"/>
                <a:gridCol w="2946400"/>
                <a:gridCol w="2946400"/>
              </a:tblGrid>
              <a:tr h="370840">
                <a:tc gridSpan="3">
                  <a:txBody>
                    <a:bodyPr/>
                    <a:lstStyle/>
                    <a:p>
                      <a:r>
                        <a:rPr lang="vi-VN" sz="1600" dirty="0" smtClean="0"/>
                        <a:t>Mọi mô hình hay chỉ báo kỹ thuật đều dựa trên 3 giả định cơ bản:</a:t>
                      </a:r>
                      <a:endParaRPr lang="en-US" sz="1600" dirty="0"/>
                    </a:p>
                  </a:txBody>
                  <a:tcPr/>
                </a:tc>
                <a:tc hMerge="1">
                  <a:txBody>
                    <a:bodyPr/>
                    <a:lstStyle/>
                    <a:p>
                      <a:endParaRPr lang="en-US" dirty="0"/>
                    </a:p>
                  </a:txBody>
                  <a:tcPr/>
                </a:tc>
                <a:tc hMerge="1">
                  <a:txBody>
                    <a:bodyPr/>
                    <a:lstStyle/>
                    <a:p>
                      <a:endParaRPr lang="en-US" dirty="0"/>
                    </a:p>
                  </a:txBody>
                  <a:tcPr/>
                </a:tc>
              </a:tr>
              <a:tr h="370840">
                <a:tc>
                  <a:txBody>
                    <a:bodyPr/>
                    <a:lstStyle/>
                    <a:p>
                      <a:r>
                        <a:rPr lang="vi-VN" sz="1400" b="1" dirty="0" smtClean="0"/>
                        <a:t>1. Giá phản ánh tất cả</a:t>
                      </a:r>
                    </a:p>
                    <a:p>
                      <a:r>
                        <a:rPr lang="vi-VN" sz="1400" dirty="0" smtClean="0"/>
                        <a:t>Tất cả các yếu tố như tin tức vĩ mô, báo cáo tài chính, tâm lý nhà đầu tư... đều đã được "chiết khấu" vào giá. Bạn chỉ cần nhìn biểu đồ là đủ thấy bức tranh toàn cảnh.</a:t>
                      </a:r>
                      <a:endParaRPr lang="en-US" sz="1400" dirty="0"/>
                    </a:p>
                  </a:txBody>
                  <a:tcPr/>
                </a:tc>
                <a:tc>
                  <a:txBody>
                    <a:bodyPr/>
                    <a:lstStyle/>
                    <a:p>
                      <a:r>
                        <a:rPr lang="vi-VN" sz="1400" b="1" dirty="0" smtClean="0"/>
                        <a:t>2. Vận động theo xu hướng</a:t>
                      </a:r>
                    </a:p>
                    <a:p>
                      <a:r>
                        <a:rPr lang="vi-VN" sz="1400" dirty="0" smtClean="0"/>
                        <a:t>Giá không chạy ngẫu nhiên mà thường di chuyển theo các xu hướng rõ rệt (Tăng, Giảm hoặc Đi ngang) cho đến khi có một tín hiệu đảo chiều mạnh mẽ.Giá có xu hướng duy trì quỹ đạo hiện tại cho đến khi có tín hiệu đảo chiều rõ rệt.</a:t>
                      </a:r>
                      <a:endParaRPr lang="en-US" sz="1400" dirty="0"/>
                    </a:p>
                  </a:txBody>
                  <a:tcPr/>
                </a:tc>
                <a:tc>
                  <a:txBody>
                    <a:bodyPr/>
                    <a:lstStyle/>
                    <a:p>
                      <a:r>
                        <a:rPr lang="vi-VN" sz="1400" b="1" dirty="0" smtClean="0"/>
                        <a:t>3. Lịch sử lặp lại</a:t>
                      </a:r>
                    </a:p>
                    <a:p>
                      <a:r>
                        <a:rPr lang="vi-VN" sz="1400" dirty="0" smtClean="0"/>
                        <a:t>Tâm lý con người (tham lam và sợ hãi) thường không đổi qua hàng trăm năm, dẫn đến các mẫu hình giá trong quá khứ thường xuất hiện lại trong tương lai.</a:t>
                      </a:r>
                      <a:endParaRPr lang="en-US" sz="1400" dirty="0"/>
                    </a:p>
                  </a:txBody>
                  <a:tcPr/>
                </a:tc>
              </a:tr>
            </a:tbl>
          </a:graphicData>
        </a:graphic>
      </p:graphicFrame>
      <p:sp>
        <p:nvSpPr>
          <p:cNvPr id="5" name="Subtitle 2"/>
          <p:cNvSpPr txBox="1">
            <a:spLocks/>
          </p:cNvSpPr>
          <p:nvPr/>
        </p:nvSpPr>
        <p:spPr>
          <a:xfrm>
            <a:off x="152400" y="1600200"/>
            <a:ext cx="8839200" cy="1295400"/>
          </a:xfrm>
          <a:prstGeom prst="rect">
            <a:avLst/>
          </a:prstGeom>
        </p:spPr>
        <p:txBody>
          <a:bodyPr vert="horz" lIns="0" rIns="18288" anchor="b">
            <a:normAutofit/>
          </a:bodyPr>
          <a:lstStyle>
            <a:lvl1pPr marL="0" marR="45720" indent="0" algn="r" rtl="0" eaLnBrk="1" latinLnBrk="0" hangingPunct="1">
              <a:spcBef>
                <a:spcPct val="20000"/>
              </a:spcBef>
              <a:buClr>
                <a:schemeClr val="accent3"/>
              </a:buClr>
              <a:buSzPct val="95000"/>
              <a:buFont typeface="Wingdings 2"/>
              <a:buNone/>
              <a:defRPr kumimoji="0" sz="2600" kern="1200">
                <a:solidFill>
                  <a:schemeClr val="tx1"/>
                </a:solidFill>
                <a:latin typeface="+mn-lt"/>
                <a:ea typeface="+mn-ea"/>
                <a:cs typeface="+mn-cs"/>
              </a:defRPr>
            </a:lvl1pPr>
            <a:lvl2pPr marL="457200" indent="0" algn="ctr" rtl="0" eaLnBrk="1" latinLnBrk="0" hangingPunct="1">
              <a:spcBef>
                <a:spcPct val="20000"/>
              </a:spcBef>
              <a:buClr>
                <a:schemeClr val="accent1"/>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ct val="20000"/>
              </a:spcBef>
              <a:buClr>
                <a:schemeClr val="accent2"/>
              </a:buClr>
              <a:buSzPct val="70000"/>
              <a:buFont typeface="Wingdings 2"/>
              <a:buNone/>
              <a:defRPr kumimoji="0" sz="2100" kern="1200">
                <a:solidFill>
                  <a:schemeClr val="tx1"/>
                </a:solidFill>
                <a:latin typeface="+mn-lt"/>
                <a:ea typeface="+mn-ea"/>
                <a:cs typeface="+mn-cs"/>
              </a:defRPr>
            </a:lvl3pPr>
            <a:lvl4pPr marL="1371600" indent="0" algn="ctr" rtl="0" eaLnBrk="1" latinLnBrk="0" hangingPunct="1">
              <a:spcBef>
                <a:spcPct val="20000"/>
              </a:spcBef>
              <a:buClr>
                <a:schemeClr val="accent3"/>
              </a:buClr>
              <a:buSzPct val="65000"/>
              <a:buFont typeface="Wingdings 2"/>
              <a:buNone/>
              <a:defRPr kumimoji="0" sz="2000" kern="1200">
                <a:solidFill>
                  <a:schemeClr val="tx1"/>
                </a:solidFill>
                <a:latin typeface="+mn-lt"/>
                <a:ea typeface="+mn-ea"/>
                <a:cs typeface="+mn-cs"/>
              </a:defRPr>
            </a:lvl4pPr>
            <a:lvl5pPr marL="1828800" indent="0" algn="ctr" rtl="0" eaLnBrk="1" latinLnBrk="0" hangingPunct="1">
              <a:spcBef>
                <a:spcPct val="20000"/>
              </a:spcBef>
              <a:buClr>
                <a:schemeClr val="accent4"/>
              </a:buClr>
              <a:buSzPct val="65000"/>
              <a:buFont typeface="Wingdings 2"/>
              <a:buNone/>
              <a:defRPr kumimoji="0" sz="2000" kern="1200">
                <a:solidFill>
                  <a:schemeClr val="tx1"/>
                </a:solidFill>
                <a:latin typeface="+mn-lt"/>
                <a:ea typeface="+mn-ea"/>
                <a:cs typeface="+mn-cs"/>
              </a:defRPr>
            </a:lvl5pPr>
            <a:lvl6pPr marL="2286000" indent="0" algn="ctr" rtl="0" eaLnBrk="1" latinLnBrk="0" hangingPunct="1">
              <a:spcBef>
                <a:spcPct val="20000"/>
              </a:spcBef>
              <a:buClr>
                <a:schemeClr val="accent5"/>
              </a:buClr>
              <a:buSzPct val="80000"/>
              <a:buFont typeface="Wingdings 2"/>
              <a:buNone/>
              <a:defRPr kumimoji="0" sz="1800" kern="1200">
                <a:solidFill>
                  <a:schemeClr val="tx1"/>
                </a:solidFill>
                <a:latin typeface="+mn-lt"/>
                <a:ea typeface="+mn-ea"/>
                <a:cs typeface="+mn-cs"/>
              </a:defRPr>
            </a:lvl6pPr>
            <a:lvl7pPr marL="2743200" indent="0" algn="ctr" rtl="0" eaLnBrk="1" latinLnBrk="0" hangingPunct="1">
              <a:spcBef>
                <a:spcPct val="20000"/>
              </a:spcBef>
              <a:buClr>
                <a:schemeClr val="accent6"/>
              </a:buClr>
              <a:buSzPct val="80000"/>
              <a:buFont typeface="Wingdings 2"/>
              <a:buNone/>
              <a:defRPr kumimoji="0" sz="1600" kern="1200" baseline="0">
                <a:solidFill>
                  <a:schemeClr val="tx1"/>
                </a:solidFill>
                <a:latin typeface="+mn-lt"/>
                <a:ea typeface="+mn-ea"/>
                <a:cs typeface="+mn-cs"/>
              </a:defRPr>
            </a:lvl7pPr>
            <a:lvl8pPr marL="3200400" indent="0" algn="ctr" rtl="0" eaLnBrk="1" latinLnBrk="0" hangingPunct="1">
              <a:spcBef>
                <a:spcPct val="20000"/>
              </a:spcBef>
              <a:buClr>
                <a:schemeClr val="tx2"/>
              </a:buClr>
              <a:buNone/>
              <a:defRPr kumimoji="0" sz="1600" kern="1200">
                <a:solidFill>
                  <a:schemeClr val="tx1"/>
                </a:solidFill>
                <a:latin typeface="+mn-lt"/>
                <a:ea typeface="+mn-ea"/>
                <a:cs typeface="+mn-cs"/>
              </a:defRPr>
            </a:lvl8pPr>
            <a:lvl9pPr marL="3657600" indent="0" algn="ctr" rtl="0" eaLnBrk="1" latinLnBrk="0" hangingPunct="1">
              <a:spcBef>
                <a:spcPct val="20000"/>
              </a:spcBef>
              <a:buClr>
                <a:schemeClr val="tx2"/>
              </a:buClr>
              <a:buFontTx/>
              <a:buNone/>
              <a:defRPr kumimoji="0" sz="1400" kern="1200" baseline="0">
                <a:solidFill>
                  <a:schemeClr val="tx1"/>
                </a:solidFill>
                <a:latin typeface="+mn-lt"/>
                <a:ea typeface="+mn-ea"/>
                <a:cs typeface="+mn-cs"/>
              </a:defRPr>
            </a:lvl9pPr>
          </a:lstStyle>
          <a:p>
            <a:pPr algn="ctr"/>
            <a:r>
              <a:rPr lang="vi-VN" sz="1800" dirty="0"/>
              <a:t>Phân tích kỹ thuật </a:t>
            </a:r>
            <a:r>
              <a:rPr lang="vi-VN" sz="1800" dirty="0" smtClean="0"/>
              <a:t>trong </a:t>
            </a:r>
            <a:r>
              <a:rPr lang="vi-VN" sz="1800" dirty="0"/>
              <a:t>chứng khoán là phương pháp dự báo xu hướng giá cổ phiếu thông qua việc nghiên cứu dữ liệu thị trường trong quá khứ, chủ yếu là giá và khối lượng giao dịch.</a:t>
            </a:r>
            <a:endParaRPr lang="en-US" sz="1800" dirty="0"/>
          </a:p>
        </p:txBody>
      </p:sp>
    </p:spTree>
    <p:extLst>
      <p:ext uri="{BB962C8B-B14F-4D97-AF65-F5344CB8AC3E}">
        <p14:creationId xmlns:p14="http://schemas.microsoft.com/office/powerpoint/2010/main" val="15271607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cap="all" dirty="0"/>
              <a:t>CÁC CÔNG CỤ PHỔ BIẾN NHẤT</a:t>
            </a:r>
            <a:endParaRPr lang="en-US" sz="2800" dirty="0"/>
          </a:p>
        </p:txBody>
      </p:sp>
      <p:graphicFrame>
        <p:nvGraphicFramePr>
          <p:cNvPr id="3" name="Table 2"/>
          <p:cNvGraphicFramePr>
            <a:graphicFrameLocks noGrp="1"/>
          </p:cNvGraphicFramePr>
          <p:nvPr>
            <p:extLst>
              <p:ext uri="{D42A27DB-BD31-4B8C-83A1-F6EECF244321}">
                <p14:modId xmlns:p14="http://schemas.microsoft.com/office/powerpoint/2010/main" val="582237311"/>
              </p:ext>
            </p:extLst>
          </p:nvPr>
        </p:nvGraphicFramePr>
        <p:xfrm>
          <a:off x="304800" y="1600200"/>
          <a:ext cx="8416448" cy="4644632"/>
        </p:xfrm>
        <a:graphic>
          <a:graphicData uri="http://schemas.openxmlformats.org/drawingml/2006/table">
            <a:tbl>
              <a:tblPr>
                <a:tableStyleId>{0505E3EF-67EA-436B-97B2-0124C06EBD24}</a:tableStyleId>
              </a:tblPr>
              <a:tblGrid>
                <a:gridCol w="3373199"/>
                <a:gridCol w="5043249"/>
              </a:tblGrid>
              <a:tr h="360705">
                <a:tc>
                  <a:txBody>
                    <a:bodyPr/>
                    <a:lstStyle/>
                    <a:p>
                      <a:pPr algn="ctr"/>
                      <a:r>
                        <a:rPr lang="en-US" sz="1800" b="1" dirty="0" err="1"/>
                        <a:t>Công</a:t>
                      </a:r>
                      <a:r>
                        <a:rPr lang="en-US" sz="1800" b="1" dirty="0"/>
                        <a:t> </a:t>
                      </a:r>
                      <a:r>
                        <a:rPr lang="en-US" sz="1800" b="1" dirty="0" err="1"/>
                        <a:t>cụ</a:t>
                      </a:r>
                      <a:endParaRPr lang="en-US" sz="1800" b="1" dirty="0"/>
                    </a:p>
                  </a:txBody>
                  <a:tcPr marL="90176" marR="90176" marT="45088" marB="45088" anchor="ctr"/>
                </a:tc>
                <a:tc>
                  <a:txBody>
                    <a:bodyPr/>
                    <a:lstStyle/>
                    <a:p>
                      <a:pPr algn="ctr"/>
                      <a:r>
                        <a:rPr lang="en-US" sz="1800" b="1" dirty="0" err="1"/>
                        <a:t>Mô</a:t>
                      </a:r>
                      <a:r>
                        <a:rPr lang="en-US" sz="1800" b="1" dirty="0"/>
                        <a:t> </a:t>
                      </a:r>
                      <a:r>
                        <a:rPr lang="en-US" sz="1800" b="1" dirty="0" err="1"/>
                        <a:t>tả</a:t>
                      </a:r>
                      <a:r>
                        <a:rPr lang="en-US" sz="1800" b="1" dirty="0"/>
                        <a:t> </a:t>
                      </a:r>
                      <a:r>
                        <a:rPr lang="en-US" sz="1800" b="1" dirty="0" err="1"/>
                        <a:t>ngắn</a:t>
                      </a:r>
                      <a:r>
                        <a:rPr lang="en-US" sz="1800" b="1" dirty="0"/>
                        <a:t> </a:t>
                      </a:r>
                      <a:r>
                        <a:rPr lang="en-US" sz="1800" b="1" dirty="0" err="1"/>
                        <a:t>gọn</a:t>
                      </a:r>
                      <a:endParaRPr lang="en-US" sz="1800" b="1" dirty="0"/>
                    </a:p>
                  </a:txBody>
                  <a:tcPr marL="90176" marR="90176" marT="45088" marB="45088" anchor="ctr"/>
                </a:tc>
              </a:tr>
              <a:tr h="901762">
                <a:tc>
                  <a:txBody>
                    <a:bodyPr/>
                    <a:lstStyle/>
                    <a:p>
                      <a:r>
                        <a:rPr lang="vi-VN" sz="1400" dirty="0"/>
                        <a:t>Biểu đồ nến (Candlestick)</a:t>
                      </a:r>
                    </a:p>
                  </a:txBody>
                  <a:tcPr marL="90176" marR="90176" marT="45088" marB="45088" anchor="ctr"/>
                </a:tc>
                <a:tc>
                  <a:txBody>
                    <a:bodyPr/>
                    <a:lstStyle/>
                    <a:p>
                      <a:r>
                        <a:rPr lang="vi-VN" sz="1400" dirty="0"/>
                        <a:t>Cách hiển thị giá mở cửa, đóng cửa, cao nhất, thấp nhất. Giúp đọc hiểu tâm lý mua/bán trong từng phiên.</a:t>
                      </a:r>
                    </a:p>
                  </a:txBody>
                  <a:tcPr marL="90176" marR="90176" marT="45088" marB="45088" anchor="ctr"/>
                </a:tc>
              </a:tr>
              <a:tr h="901762">
                <a:tc>
                  <a:txBody>
                    <a:bodyPr/>
                    <a:lstStyle/>
                    <a:p>
                      <a:r>
                        <a:rPr lang="vi-VN" sz="1400"/>
                        <a:t>Đường trung bình (MA)</a:t>
                      </a:r>
                    </a:p>
                  </a:txBody>
                  <a:tcPr marL="90176" marR="90176" marT="45088" marB="45088" anchor="ctr"/>
                </a:tc>
                <a:tc>
                  <a:txBody>
                    <a:bodyPr/>
                    <a:lstStyle/>
                    <a:p>
                      <a:r>
                        <a:rPr lang="vi-VN" sz="1400" dirty="0"/>
                        <a:t>Làm mượt dữ liệu giá để xác định xu hướng chính (ví dụ: MA20 cho ngắn hạn, MA200 cho dài hạn).</a:t>
                      </a:r>
                    </a:p>
                  </a:txBody>
                  <a:tcPr marL="90176" marR="90176" marT="45088" marB="45088" anchor="ctr"/>
                </a:tc>
              </a:tr>
              <a:tr h="631234">
                <a:tc>
                  <a:txBody>
                    <a:bodyPr/>
                    <a:lstStyle/>
                    <a:p>
                      <a:r>
                        <a:rPr lang="en-US" sz="1400"/>
                        <a:t>Hỗ trợ &amp; Kháng cự</a:t>
                      </a:r>
                    </a:p>
                  </a:txBody>
                  <a:tcPr marL="90176" marR="90176" marT="45088" marB="45088" anchor="ctr"/>
                </a:tc>
                <a:tc>
                  <a:txBody>
                    <a:bodyPr/>
                    <a:lstStyle/>
                    <a:p>
                      <a:r>
                        <a:rPr lang="vi-VN" sz="1400" dirty="0"/>
                        <a:t>Các vùng giá mà tại đó giá thường có xu hướng dừng lại hoặc đảo chiều.</a:t>
                      </a:r>
                    </a:p>
                  </a:txBody>
                  <a:tcPr marL="90176" marR="90176" marT="45088" marB="45088" anchor="ctr"/>
                </a:tc>
              </a:tr>
              <a:tr h="901762">
                <a:tc>
                  <a:txBody>
                    <a:bodyPr/>
                    <a:lstStyle/>
                    <a:p>
                      <a:r>
                        <a:rPr lang="en-US" sz="1400"/>
                        <a:t>Chỉ báo (Indicator)</a:t>
                      </a:r>
                    </a:p>
                  </a:txBody>
                  <a:tcPr marL="90176" marR="90176" marT="45088" marB="45088" anchor="ctr"/>
                </a:tc>
                <a:tc>
                  <a:txBody>
                    <a:bodyPr/>
                    <a:lstStyle/>
                    <a:p>
                      <a:r>
                        <a:rPr lang="vi-VN" sz="1400" dirty="0" smtClean="0"/>
                        <a:t>RSI (Relative Strength Index): Đo lường sức mạnh của giá, giúp nhận biết khi nào thị trường đang "quá mua" (nguy cơ giảm) hoặc "quá bán" (cơ hội tăng). MACD: Xác định sự hội tụ và phân kỳ của các đường trung bình để tìm điểm đảo chiều.</a:t>
                      </a:r>
                      <a:endParaRPr lang="vi-VN" sz="1400" dirty="0"/>
                    </a:p>
                  </a:txBody>
                  <a:tcPr marL="90176" marR="90176" marT="45088" marB="45088" anchor="ctr"/>
                </a:tc>
              </a:tr>
              <a:tr h="901762">
                <a:tc>
                  <a:txBody>
                    <a:bodyPr/>
                    <a:lstStyle/>
                    <a:p>
                      <a:r>
                        <a:rPr lang="en-US" sz="1400"/>
                        <a:t>Mô hình giá</a:t>
                      </a:r>
                    </a:p>
                  </a:txBody>
                  <a:tcPr marL="90176" marR="90176" marT="45088" marB="45088" anchor="ctr"/>
                </a:tc>
                <a:tc>
                  <a:txBody>
                    <a:bodyPr/>
                    <a:lstStyle/>
                    <a:p>
                      <a:r>
                        <a:rPr lang="vi-VN" sz="1400" dirty="0"/>
                        <a:t>Các hình dạng đặc biệt như Vai-Đầu-Vai, Hai Đáy, Chiếc Cốc Tay Cầm... báo hiệu giá sắp bứt phá.</a:t>
                      </a:r>
                    </a:p>
                  </a:txBody>
                  <a:tcPr marL="90176" marR="90176" marT="45088" marB="45088" anchor="ctr"/>
                </a:tc>
              </a:tr>
            </a:tbl>
          </a:graphicData>
        </a:graphic>
      </p:graphicFrame>
    </p:spTree>
    <p:extLst>
      <p:ext uri="{BB962C8B-B14F-4D97-AF65-F5344CB8AC3E}">
        <p14:creationId xmlns:p14="http://schemas.microsoft.com/office/powerpoint/2010/main" val="32206522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307848"/>
            <a:ext cx="8534400" cy="758952"/>
          </a:xfrm>
        </p:spPr>
        <p:txBody>
          <a:bodyPr>
            <a:normAutofit fontScale="90000"/>
          </a:bodyPr>
          <a:lstStyle/>
          <a:p>
            <a:r>
              <a:rPr lang="vi-VN" sz="2800" b="1" cap="all" dirty="0" smtClean="0"/>
              <a:t>Đường </a:t>
            </a:r>
            <a:r>
              <a:rPr lang="vi-VN" sz="2800" b="1" cap="all" dirty="0"/>
              <a:t>trung bình động (Moving Average - MA) &amp; Chỉ số sức mạnh tương đối (RSI</a:t>
            </a:r>
            <a:r>
              <a:rPr lang="vi-VN" sz="2800" b="1" cap="all" dirty="0" smtClean="0"/>
              <a:t>)</a:t>
            </a:r>
            <a:endParaRPr lang="en-US" sz="2800" dirty="0"/>
          </a:p>
        </p:txBody>
      </p:sp>
      <p:sp>
        <p:nvSpPr>
          <p:cNvPr id="3" name="Content Placeholder 2"/>
          <p:cNvSpPr>
            <a:spLocks noGrp="1"/>
          </p:cNvSpPr>
          <p:nvPr>
            <p:ph sz="half" idx="1"/>
          </p:nvPr>
        </p:nvSpPr>
        <p:spPr>
          <a:xfrm>
            <a:off x="301752" y="1371600"/>
            <a:ext cx="4038600" cy="4681728"/>
          </a:xfrm>
        </p:spPr>
        <p:txBody>
          <a:bodyPr anchor="ctr">
            <a:normAutofit/>
          </a:bodyPr>
          <a:lstStyle/>
          <a:p>
            <a:pPr marL="0" indent="0">
              <a:buNone/>
            </a:pPr>
            <a:r>
              <a:rPr lang="vi-VN" sz="1600" b="1" dirty="0"/>
              <a:t>Đường MA giúp làm mượt biến động giá để bạn thấy rõ xu hướng chính. Hai đường phổ biến nhất là MA20 (ngắn hạn) và MA50/MA200 (trung và dài hạn).</a:t>
            </a:r>
          </a:p>
          <a:p>
            <a:r>
              <a:rPr lang="vi-VN" sz="1600" dirty="0"/>
              <a:t>Cách đọc xu hướng: * Nếu giá nằm trên đường MA: Xu hướng tăng (Uptrend).</a:t>
            </a:r>
          </a:p>
          <a:p>
            <a:pPr lvl="1"/>
            <a:r>
              <a:rPr lang="vi-VN" sz="1300" dirty="0"/>
              <a:t>Nếu giá nằm dưới đường MA: Xu hướng giảm (Downtrend).</a:t>
            </a:r>
          </a:p>
          <a:p>
            <a:r>
              <a:rPr lang="vi-VN" sz="1600" dirty="0"/>
              <a:t>Tín hiệu giao dịch (Giao cắt vàng - Golden Cross): Khi đường MA ngắn hạn (như MA20) cắt lên trên đường MA dài hạn (như MA50), đó thường là tín hiệu cho một đợt tăng giá mạnh.</a:t>
            </a:r>
            <a:endParaRPr lang="vi-VN" sz="1600" dirty="0"/>
          </a:p>
        </p:txBody>
      </p:sp>
      <p:sp>
        <p:nvSpPr>
          <p:cNvPr id="5" name="Content Placeholder 2"/>
          <p:cNvSpPr>
            <a:spLocks noGrp="1"/>
          </p:cNvSpPr>
          <p:nvPr>
            <p:ph sz="half" idx="1"/>
          </p:nvPr>
        </p:nvSpPr>
        <p:spPr>
          <a:xfrm>
            <a:off x="4724400" y="1371600"/>
            <a:ext cx="4038600" cy="4681728"/>
          </a:xfrm>
        </p:spPr>
        <p:txBody>
          <a:bodyPr anchor="ctr">
            <a:normAutofit/>
          </a:bodyPr>
          <a:lstStyle/>
          <a:p>
            <a:pPr marL="0" indent="0">
              <a:buNone/>
            </a:pPr>
            <a:r>
              <a:rPr lang="vi-VN" sz="1600" b="1" dirty="0"/>
              <a:t>RSI là một chỉ báo dao động giúp bạn biết thị trường đang "nóng" hay "lạnh" quá mức. Chỉ số này chạy từ 0 đến 100.</a:t>
            </a:r>
          </a:p>
          <a:p>
            <a:r>
              <a:rPr lang="vi-VN" sz="1600" dirty="0"/>
              <a:t>Vùng Quá mua (Overbought) &gt; 70: Giá đã tăng quá nhanh, tâm lý hưng phấn quá đà. Đây là lúc bạn nên cẩn trọng, vì khả năng cao giá sẽ sớm điều chỉnh giảm.</a:t>
            </a:r>
          </a:p>
          <a:p>
            <a:r>
              <a:rPr lang="vi-VN" sz="1600" dirty="0"/>
              <a:t>Vùng Quá bán (Oversold) &lt; 30: Giá đã giảm quá sâu, tâm lý hoảng loạn cực độ. Đây thường là vùng đáy tiềm năng để cân nhắc mua vào.</a:t>
            </a:r>
          </a:p>
          <a:p>
            <a:r>
              <a:rPr lang="vi-VN" sz="1600" dirty="0"/>
              <a:t>Phân kỳ (Divergence): Đây là tín hiệu mạnh nhất của RSI. Nếu giá tạo đỉnh sau cao hơn đỉnh trước, nhưng RSI lại tạo đỉnh sau thấp hơn đỉnh trước, đó là dấu hiệu cảnh báo xu hướng tăng đang suy yếu và sắp đảo chiều.</a:t>
            </a:r>
            <a:endParaRPr lang="vi-VN" sz="1600" dirty="0"/>
          </a:p>
        </p:txBody>
      </p:sp>
    </p:spTree>
    <p:extLst>
      <p:ext uri="{BB962C8B-B14F-4D97-AF65-F5344CB8AC3E}">
        <p14:creationId xmlns:p14="http://schemas.microsoft.com/office/powerpoint/2010/main" val="5723187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cap="all" dirty="0" err="1"/>
              <a:t>Tại</a:t>
            </a:r>
            <a:r>
              <a:rPr lang="en-US" sz="2800" b="1" cap="all" dirty="0"/>
              <a:t> </a:t>
            </a:r>
            <a:r>
              <a:rPr lang="en-US" sz="2800" b="1" cap="all" dirty="0" err="1"/>
              <a:t>sao</a:t>
            </a:r>
            <a:r>
              <a:rPr lang="en-US" sz="2800" b="1" cap="all" dirty="0"/>
              <a:t> </a:t>
            </a:r>
            <a:r>
              <a:rPr lang="en-US" sz="2800" b="1" cap="all" dirty="0" err="1"/>
              <a:t>dùng</a:t>
            </a:r>
            <a:r>
              <a:rPr lang="en-US" sz="2800" b="1" cap="all" dirty="0"/>
              <a:t> LSTM </a:t>
            </a:r>
            <a:r>
              <a:rPr lang="en-US" sz="2800" b="1" cap="all" dirty="0" err="1"/>
              <a:t>cho</a:t>
            </a:r>
            <a:r>
              <a:rPr lang="en-US" sz="2800" b="1" cap="all" dirty="0"/>
              <a:t> </a:t>
            </a:r>
            <a:r>
              <a:rPr lang="en-US" sz="2800" b="1" cap="all" dirty="0" err="1"/>
              <a:t>Chứng</a:t>
            </a:r>
            <a:r>
              <a:rPr lang="en-US" sz="2800" b="1" cap="all" dirty="0"/>
              <a:t> </a:t>
            </a:r>
            <a:r>
              <a:rPr lang="en-US" sz="2800" b="1" cap="all" dirty="0" err="1"/>
              <a:t>khoán</a:t>
            </a:r>
            <a:r>
              <a:rPr lang="en-US" sz="2800" b="1" cap="all" dirty="0" smtClean="0"/>
              <a:t>?</a:t>
            </a:r>
            <a:endParaRPr lang="en-US" sz="2800" dirty="0"/>
          </a:p>
        </p:txBody>
      </p:sp>
      <p:sp>
        <p:nvSpPr>
          <p:cNvPr id="3" name="Content Placeholder 2"/>
          <p:cNvSpPr>
            <a:spLocks noGrp="1"/>
          </p:cNvSpPr>
          <p:nvPr>
            <p:ph sz="half" idx="1"/>
          </p:nvPr>
        </p:nvSpPr>
        <p:spPr/>
        <p:txBody>
          <a:bodyPr anchor="ctr">
            <a:normAutofit/>
          </a:bodyPr>
          <a:lstStyle/>
          <a:p>
            <a:pPr marL="0" indent="0">
              <a:buNone/>
            </a:pPr>
            <a:r>
              <a:rPr lang="vi-VN" sz="1600" b="1" dirty="0"/>
              <a:t>Trong chứng khoán, giá cổ phiếu không chỉ phụ thuộc vào ngày hôm qua mà còn bị ảnh hưởng bởi các chu kỳ, xu hướng từ nhiều tuần hoặc nhiều tháng trước. LSTM chính là công cụ mạnh mẽ nhất để giải quyết bài toán này.</a:t>
            </a:r>
            <a:endParaRPr lang="en-US" sz="1600" b="1" dirty="0" smtClean="0"/>
          </a:p>
          <a:p>
            <a:r>
              <a:rPr lang="vi-VN" sz="1600" b="1" dirty="0" smtClean="0"/>
              <a:t>Khả </a:t>
            </a:r>
            <a:r>
              <a:rPr lang="vi-VN" sz="1600" b="1" dirty="0"/>
              <a:t>năng ghi nhớ:</a:t>
            </a:r>
            <a:r>
              <a:rPr lang="vi-VN" sz="1600" dirty="0"/>
              <a:t> Xử lý các chuỗi dữ liệu dài hạn vượt trội hơn RNN truyền thống.</a:t>
            </a:r>
          </a:p>
          <a:p>
            <a:r>
              <a:rPr lang="vi-VN" sz="1600" b="1" dirty="0"/>
              <a:t>Dữ liệu phi tuyến tính:</a:t>
            </a:r>
            <a:r>
              <a:rPr lang="vi-VN" sz="1600" dirty="0"/>
              <a:t> Hiểu được các biến động phức tạp không theo đường thẳng của thị trường.</a:t>
            </a:r>
          </a:p>
          <a:p>
            <a:r>
              <a:rPr lang="vi-VN" sz="1600" b="1" dirty="0"/>
              <a:t>Phát hiện mẫu hình:</a:t>
            </a:r>
            <a:r>
              <a:rPr lang="vi-VN" sz="1600" dirty="0"/>
              <a:t> Tự động nhận diện các tín hiệu mà mắt người thường bỏ sót</a:t>
            </a:r>
            <a:r>
              <a:rPr lang="vi-VN" sz="1600" dirty="0" smtClean="0"/>
              <a:t>.</a:t>
            </a:r>
            <a:endParaRPr lang="vi-VN" sz="1600"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2590800"/>
            <a:ext cx="42672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0984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cap="all" dirty="0" err="1"/>
              <a:t>Quy</a:t>
            </a:r>
            <a:r>
              <a:rPr lang="en-US" sz="2800" b="1" cap="all" dirty="0"/>
              <a:t> </a:t>
            </a:r>
            <a:r>
              <a:rPr lang="en-US" sz="2800" b="1" cap="all" dirty="0" err="1"/>
              <a:t>trình</a:t>
            </a:r>
            <a:r>
              <a:rPr lang="en-US" sz="2800" b="1" cap="all" dirty="0"/>
              <a:t> </a:t>
            </a:r>
            <a:r>
              <a:rPr lang="en-US" sz="2800" b="1" cap="all" dirty="0" err="1"/>
              <a:t>xây</a:t>
            </a:r>
            <a:r>
              <a:rPr lang="en-US" sz="2800" b="1" cap="all" dirty="0"/>
              <a:t> </a:t>
            </a:r>
            <a:r>
              <a:rPr lang="en-US" sz="2800" b="1" cap="all" dirty="0" err="1"/>
              <a:t>dựng</a:t>
            </a:r>
            <a:r>
              <a:rPr lang="en-US" sz="2800" b="1" cap="all" dirty="0"/>
              <a:t> </a:t>
            </a:r>
            <a:r>
              <a:rPr lang="en-US" sz="2800" b="1" cap="all" dirty="0" err="1"/>
              <a:t>mô</a:t>
            </a:r>
            <a:r>
              <a:rPr lang="en-US" sz="2800" b="1" cap="all" dirty="0"/>
              <a:t> </a:t>
            </a:r>
            <a:r>
              <a:rPr lang="en-US" sz="2800" b="1" cap="all" dirty="0" err="1" smtClean="0"/>
              <a:t>hình</a:t>
            </a:r>
            <a:endParaRPr lang="en-US" sz="2800" dirty="0"/>
          </a:p>
        </p:txBody>
      </p:sp>
      <p:graphicFrame>
        <p:nvGraphicFramePr>
          <p:cNvPr id="5" name="Table 4"/>
          <p:cNvGraphicFramePr>
            <a:graphicFrameLocks noGrp="1"/>
          </p:cNvGraphicFramePr>
          <p:nvPr>
            <p:extLst>
              <p:ext uri="{D42A27DB-BD31-4B8C-83A1-F6EECF244321}">
                <p14:modId xmlns:p14="http://schemas.microsoft.com/office/powerpoint/2010/main" val="526307276"/>
              </p:ext>
            </p:extLst>
          </p:nvPr>
        </p:nvGraphicFramePr>
        <p:xfrm>
          <a:off x="152400" y="1676400"/>
          <a:ext cx="8839200" cy="4038600"/>
        </p:xfrm>
        <a:graphic>
          <a:graphicData uri="http://schemas.openxmlformats.org/drawingml/2006/table">
            <a:tbl>
              <a:tblPr firstRow="1" bandRow="1">
                <a:tableStyleId>{2D5ABB26-0587-4C30-8999-92F81FD0307C}</a:tableStyleId>
              </a:tblPr>
              <a:tblGrid>
                <a:gridCol w="1767840"/>
                <a:gridCol w="1767840"/>
                <a:gridCol w="1767840"/>
                <a:gridCol w="1767840"/>
                <a:gridCol w="176784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b="1" i="0" kern="1200" dirty="0" smtClean="0">
                          <a:solidFill>
                            <a:schemeClr val="tx1"/>
                          </a:solidFill>
                          <a:effectLst/>
                          <a:latin typeface="+mn-lt"/>
                          <a:ea typeface="+mn-ea"/>
                          <a:cs typeface="+mn-cs"/>
                        </a:rPr>
                        <a:t>Thu </a:t>
                      </a:r>
                      <a:r>
                        <a:rPr kumimoji="0" lang="en-US" b="1" i="0" kern="1200" dirty="0" err="1" smtClean="0">
                          <a:solidFill>
                            <a:schemeClr val="tx1"/>
                          </a:solidFill>
                          <a:effectLst/>
                          <a:latin typeface="+mn-lt"/>
                          <a:ea typeface="+mn-ea"/>
                          <a:cs typeface="+mn-cs"/>
                        </a:rPr>
                        <a:t>Thập</a:t>
                      </a:r>
                      <a:endParaRPr kumimoji="0" lang="en-US" b="1" i="0" kern="1200" dirty="0" smtClean="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b="1" i="0" kern="1200" dirty="0" err="1" smtClean="0">
                          <a:solidFill>
                            <a:schemeClr val="tx1"/>
                          </a:solidFill>
                          <a:effectLst/>
                          <a:latin typeface="+mn-lt"/>
                          <a:ea typeface="+mn-ea"/>
                          <a:cs typeface="+mn-cs"/>
                        </a:rPr>
                        <a:t>Tiền</a:t>
                      </a:r>
                      <a:r>
                        <a:rPr kumimoji="0" lang="en-US" b="1" i="0" kern="1200" dirty="0" smtClean="0">
                          <a:solidFill>
                            <a:schemeClr val="tx1"/>
                          </a:solidFill>
                          <a:effectLst/>
                          <a:latin typeface="+mn-lt"/>
                          <a:ea typeface="+mn-ea"/>
                          <a:cs typeface="+mn-cs"/>
                        </a:rPr>
                        <a:t> </a:t>
                      </a:r>
                      <a:r>
                        <a:rPr kumimoji="0" lang="en-US" b="1" i="0" kern="1200" dirty="0" err="1" smtClean="0">
                          <a:solidFill>
                            <a:schemeClr val="tx1"/>
                          </a:solidFill>
                          <a:effectLst/>
                          <a:latin typeface="+mn-lt"/>
                          <a:ea typeface="+mn-ea"/>
                          <a:cs typeface="+mn-cs"/>
                        </a:rPr>
                        <a:t>Xử</a:t>
                      </a:r>
                      <a:r>
                        <a:rPr kumimoji="0" lang="en-US" b="1" i="0" kern="1200" dirty="0" smtClean="0">
                          <a:solidFill>
                            <a:schemeClr val="tx1"/>
                          </a:solidFill>
                          <a:effectLst/>
                          <a:latin typeface="+mn-lt"/>
                          <a:ea typeface="+mn-ea"/>
                          <a:cs typeface="+mn-cs"/>
                        </a:rPr>
                        <a:t> </a:t>
                      </a:r>
                      <a:r>
                        <a:rPr kumimoji="0" lang="en-US" b="1" i="0" kern="1200" dirty="0" err="1" smtClean="0">
                          <a:solidFill>
                            <a:schemeClr val="tx1"/>
                          </a:solidFill>
                          <a:effectLst/>
                          <a:latin typeface="+mn-lt"/>
                          <a:ea typeface="+mn-ea"/>
                          <a:cs typeface="+mn-cs"/>
                        </a:rPr>
                        <a:t>Lý</a:t>
                      </a:r>
                      <a:endParaRPr kumimoji="0" lang="en-US" b="1" i="0" kern="1200" dirty="0" smtClean="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b="1" i="0" kern="1200" dirty="0" err="1" smtClean="0">
                          <a:solidFill>
                            <a:schemeClr val="tx1"/>
                          </a:solidFill>
                          <a:effectLst/>
                          <a:latin typeface="+mn-lt"/>
                          <a:ea typeface="+mn-ea"/>
                          <a:cs typeface="+mn-cs"/>
                        </a:rPr>
                        <a:t>Cấu</a:t>
                      </a:r>
                      <a:r>
                        <a:rPr kumimoji="0" lang="en-US" b="1" i="0" kern="1200" dirty="0" smtClean="0">
                          <a:solidFill>
                            <a:schemeClr val="tx1"/>
                          </a:solidFill>
                          <a:effectLst/>
                          <a:latin typeface="+mn-lt"/>
                          <a:ea typeface="+mn-ea"/>
                          <a:cs typeface="+mn-cs"/>
                        </a:rPr>
                        <a:t> </a:t>
                      </a:r>
                      <a:r>
                        <a:rPr kumimoji="0" lang="en-US" b="1" i="0" kern="1200" dirty="0" err="1" smtClean="0">
                          <a:solidFill>
                            <a:schemeClr val="tx1"/>
                          </a:solidFill>
                          <a:effectLst/>
                          <a:latin typeface="+mn-lt"/>
                          <a:ea typeface="+mn-ea"/>
                          <a:cs typeface="+mn-cs"/>
                        </a:rPr>
                        <a:t>Trúc</a:t>
                      </a:r>
                      <a:endParaRPr kumimoji="0" lang="en-US" b="1" i="0" kern="1200" dirty="0" smtClean="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b="1" i="0" kern="1200" dirty="0" err="1" smtClean="0">
                          <a:solidFill>
                            <a:schemeClr val="tx1"/>
                          </a:solidFill>
                          <a:effectLst/>
                          <a:latin typeface="+mn-lt"/>
                          <a:ea typeface="+mn-ea"/>
                          <a:cs typeface="+mn-cs"/>
                        </a:rPr>
                        <a:t>Huấn</a:t>
                      </a:r>
                      <a:r>
                        <a:rPr kumimoji="0" lang="en-US" b="1" i="0" kern="1200" dirty="0" smtClean="0">
                          <a:solidFill>
                            <a:schemeClr val="tx1"/>
                          </a:solidFill>
                          <a:effectLst/>
                          <a:latin typeface="+mn-lt"/>
                          <a:ea typeface="+mn-ea"/>
                          <a:cs typeface="+mn-cs"/>
                        </a:rPr>
                        <a:t> </a:t>
                      </a:r>
                      <a:r>
                        <a:rPr kumimoji="0" lang="en-US" b="1" i="0" kern="1200" dirty="0" err="1" smtClean="0">
                          <a:solidFill>
                            <a:schemeClr val="tx1"/>
                          </a:solidFill>
                          <a:effectLst/>
                          <a:latin typeface="+mn-lt"/>
                          <a:ea typeface="+mn-ea"/>
                          <a:cs typeface="+mn-cs"/>
                        </a:rPr>
                        <a:t>Luyện</a:t>
                      </a:r>
                      <a:endParaRPr kumimoji="0" lang="en-US" b="1" i="0" kern="1200" dirty="0" smtClean="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b="1" i="0" kern="1200" dirty="0" err="1" smtClean="0">
                          <a:solidFill>
                            <a:schemeClr val="tx1"/>
                          </a:solidFill>
                          <a:effectLst/>
                          <a:latin typeface="+mn-lt"/>
                          <a:ea typeface="+mn-ea"/>
                          <a:cs typeface="+mn-cs"/>
                        </a:rPr>
                        <a:t>Kiểm</a:t>
                      </a:r>
                      <a:r>
                        <a:rPr kumimoji="0" lang="en-US" b="1" i="0" kern="1200" dirty="0" smtClean="0">
                          <a:solidFill>
                            <a:schemeClr val="tx1"/>
                          </a:solidFill>
                          <a:effectLst/>
                          <a:latin typeface="+mn-lt"/>
                          <a:ea typeface="+mn-ea"/>
                          <a:cs typeface="+mn-cs"/>
                        </a:rPr>
                        <a:t> </a:t>
                      </a:r>
                      <a:r>
                        <a:rPr kumimoji="0" lang="en-US" b="1" i="0" kern="1200" dirty="0" err="1" smtClean="0">
                          <a:solidFill>
                            <a:schemeClr val="tx1"/>
                          </a:solidFill>
                          <a:effectLst/>
                          <a:latin typeface="+mn-lt"/>
                          <a:ea typeface="+mn-ea"/>
                          <a:cs typeface="+mn-cs"/>
                        </a:rPr>
                        <a:t>Chứng</a:t>
                      </a:r>
                      <a:endParaRPr kumimoji="0" lang="en-US" b="1" i="0" kern="1200" dirty="0" smtClean="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67760">
                <a:tc>
                  <a:txBody>
                    <a:bodyPr/>
                    <a:lstStyle/>
                    <a:p>
                      <a:r>
                        <a:rPr kumimoji="0" lang="en-US" sz="1400" b="0" i="0" kern="1200" dirty="0" err="1" smtClean="0">
                          <a:solidFill>
                            <a:schemeClr val="tx1"/>
                          </a:solidFill>
                          <a:effectLst/>
                          <a:latin typeface="+mn-lt"/>
                          <a:ea typeface="+mn-ea"/>
                          <a:cs typeface="+mn-cs"/>
                        </a:rPr>
                        <a:t>Sử</a:t>
                      </a:r>
                      <a:r>
                        <a:rPr kumimoji="0" lang="en-US" sz="1400" b="0" i="0" kern="1200" dirty="0" smtClean="0">
                          <a:solidFill>
                            <a:schemeClr val="tx1"/>
                          </a:solidFill>
                          <a:effectLst/>
                          <a:latin typeface="+mn-lt"/>
                          <a:ea typeface="+mn-ea"/>
                          <a:cs typeface="+mn-cs"/>
                        </a:rPr>
                        <a:t> </a:t>
                      </a:r>
                      <a:r>
                        <a:rPr kumimoji="0" lang="en-US" sz="1400" b="0" i="0" kern="1200" dirty="0" err="1" smtClean="0">
                          <a:solidFill>
                            <a:schemeClr val="tx1"/>
                          </a:solidFill>
                          <a:effectLst/>
                          <a:latin typeface="+mn-lt"/>
                          <a:ea typeface="+mn-ea"/>
                          <a:cs typeface="+mn-cs"/>
                        </a:rPr>
                        <a:t>dụng</a:t>
                      </a:r>
                      <a:r>
                        <a:rPr kumimoji="0" lang="en-US" sz="1400" b="0" i="0" kern="1200" dirty="0" smtClean="0">
                          <a:solidFill>
                            <a:schemeClr val="tx1"/>
                          </a:solidFill>
                          <a:effectLst/>
                          <a:latin typeface="+mn-lt"/>
                          <a:ea typeface="+mn-ea"/>
                          <a:cs typeface="+mn-cs"/>
                        </a:rPr>
                        <a:t> </a:t>
                      </a:r>
                      <a:r>
                        <a:rPr kumimoji="0" lang="en-US" sz="1400" b="0" i="0" kern="1200" dirty="0" err="1" smtClean="0">
                          <a:solidFill>
                            <a:schemeClr val="tx1"/>
                          </a:solidFill>
                          <a:effectLst/>
                          <a:latin typeface="+mn-lt"/>
                          <a:ea typeface="+mn-ea"/>
                          <a:cs typeface="+mn-cs"/>
                        </a:rPr>
                        <a:t>vnstock</a:t>
                      </a:r>
                      <a:r>
                        <a:rPr kumimoji="0" lang="en-US" sz="1400" b="0" i="0" kern="1200" dirty="0" smtClean="0">
                          <a:solidFill>
                            <a:schemeClr val="tx1"/>
                          </a:solidFill>
                          <a:effectLst/>
                          <a:latin typeface="+mn-lt"/>
                          <a:ea typeface="+mn-ea"/>
                          <a:cs typeface="+mn-cs"/>
                        </a:rPr>
                        <a:t> </a:t>
                      </a:r>
                      <a:r>
                        <a:rPr kumimoji="0" lang="en-US" sz="1400" b="0" i="0" kern="1200" dirty="0" err="1" smtClean="0">
                          <a:solidFill>
                            <a:schemeClr val="tx1"/>
                          </a:solidFill>
                          <a:effectLst/>
                          <a:latin typeface="+mn-lt"/>
                          <a:ea typeface="+mn-ea"/>
                          <a:cs typeface="+mn-cs"/>
                        </a:rPr>
                        <a:t>lấy</a:t>
                      </a:r>
                      <a:r>
                        <a:rPr kumimoji="0" lang="en-US" sz="1400" b="0" i="0" kern="1200" dirty="0" smtClean="0">
                          <a:solidFill>
                            <a:schemeClr val="tx1"/>
                          </a:solidFill>
                          <a:effectLst/>
                          <a:latin typeface="+mn-lt"/>
                          <a:ea typeface="+mn-ea"/>
                          <a:cs typeface="+mn-cs"/>
                        </a:rPr>
                        <a:t> </a:t>
                      </a:r>
                      <a:r>
                        <a:rPr kumimoji="0" lang="en-US" sz="1400" b="0" i="0" kern="1200" dirty="0" err="1" smtClean="0">
                          <a:solidFill>
                            <a:schemeClr val="tx1"/>
                          </a:solidFill>
                          <a:effectLst/>
                          <a:latin typeface="+mn-lt"/>
                          <a:ea typeface="+mn-ea"/>
                          <a:cs typeface="+mn-cs"/>
                        </a:rPr>
                        <a:t>dữ</a:t>
                      </a:r>
                      <a:r>
                        <a:rPr kumimoji="0" lang="en-US" sz="1400" b="0" i="0" kern="1200" dirty="0" smtClean="0">
                          <a:solidFill>
                            <a:schemeClr val="tx1"/>
                          </a:solidFill>
                          <a:effectLst/>
                          <a:latin typeface="+mn-lt"/>
                          <a:ea typeface="+mn-ea"/>
                          <a:cs typeface="+mn-cs"/>
                        </a:rPr>
                        <a:t> </a:t>
                      </a:r>
                      <a:r>
                        <a:rPr kumimoji="0" lang="en-US" sz="1400" b="0" i="0" kern="1200" dirty="0" err="1" smtClean="0">
                          <a:solidFill>
                            <a:schemeClr val="tx1"/>
                          </a:solidFill>
                          <a:effectLst/>
                          <a:latin typeface="+mn-lt"/>
                          <a:ea typeface="+mn-ea"/>
                          <a:cs typeface="+mn-cs"/>
                        </a:rPr>
                        <a:t>liệu</a:t>
                      </a:r>
                      <a:r>
                        <a:rPr kumimoji="0" lang="en-US" sz="1400" b="0" i="0" kern="1200" dirty="0" smtClean="0">
                          <a:solidFill>
                            <a:schemeClr val="tx1"/>
                          </a:solidFill>
                          <a:effectLst/>
                          <a:latin typeface="+mn-lt"/>
                          <a:ea typeface="+mn-ea"/>
                          <a:cs typeface="+mn-cs"/>
                        </a:rPr>
                        <a:t> OHLCV</a:t>
                      </a:r>
                      <a:r>
                        <a:rPr kumimoji="0" lang="en-US" sz="1400" b="0" i="0" kern="1200" baseline="0" dirty="0" smtClean="0">
                          <a:solidFill>
                            <a:schemeClr val="tx1"/>
                          </a:solidFill>
                          <a:effectLst/>
                          <a:latin typeface="+mn-lt"/>
                          <a:ea typeface="+mn-ea"/>
                          <a:cs typeface="+mn-cs"/>
                        </a:rPr>
                        <a:t> </a:t>
                      </a:r>
                      <a:r>
                        <a:rPr kumimoji="0" lang="en-US" sz="1400" b="0" i="0" kern="1200" baseline="0" dirty="0" err="1" smtClean="0">
                          <a:solidFill>
                            <a:schemeClr val="tx1"/>
                          </a:solidFill>
                          <a:effectLst/>
                          <a:latin typeface="+mn-lt"/>
                          <a:ea typeface="+mn-ea"/>
                          <a:cs typeface="+mn-cs"/>
                        </a:rPr>
                        <a:t>của</a:t>
                      </a:r>
                      <a:r>
                        <a:rPr kumimoji="0" lang="en-US" sz="1400" b="0" i="0" kern="1200" baseline="0" dirty="0" smtClean="0">
                          <a:solidFill>
                            <a:schemeClr val="tx1"/>
                          </a:solidFill>
                          <a:effectLst/>
                          <a:latin typeface="+mn-lt"/>
                          <a:ea typeface="+mn-ea"/>
                          <a:cs typeface="+mn-cs"/>
                        </a:rPr>
                        <a:t> </a:t>
                      </a:r>
                      <a:r>
                        <a:rPr kumimoji="0" lang="en-US" sz="1400" b="0" i="0" kern="1200" baseline="0" dirty="0" err="1" smtClean="0">
                          <a:solidFill>
                            <a:schemeClr val="tx1"/>
                          </a:solidFill>
                          <a:effectLst/>
                          <a:latin typeface="+mn-lt"/>
                          <a:ea typeface="+mn-ea"/>
                          <a:cs typeface="+mn-cs"/>
                        </a:rPr>
                        <a:t>từng</a:t>
                      </a:r>
                      <a:r>
                        <a:rPr kumimoji="0" lang="en-US" sz="1400" b="0" i="0" kern="1200" baseline="0" dirty="0" smtClean="0">
                          <a:solidFill>
                            <a:schemeClr val="tx1"/>
                          </a:solidFill>
                          <a:effectLst/>
                          <a:latin typeface="+mn-lt"/>
                          <a:ea typeface="+mn-ea"/>
                          <a:cs typeface="+mn-cs"/>
                        </a:rPr>
                        <a:t> </a:t>
                      </a:r>
                      <a:r>
                        <a:rPr kumimoji="0" lang="en-US" sz="1400" b="0" i="0" kern="1200" baseline="0" dirty="0" err="1" smtClean="0">
                          <a:solidFill>
                            <a:schemeClr val="tx1"/>
                          </a:solidFill>
                          <a:effectLst/>
                          <a:latin typeface="+mn-lt"/>
                          <a:ea typeface="+mn-ea"/>
                          <a:cs typeface="+mn-cs"/>
                        </a:rPr>
                        <a:t>mã</a:t>
                      </a:r>
                      <a:r>
                        <a:rPr kumimoji="0" lang="en-US" sz="1400" b="0" i="0" kern="1200" baseline="0" dirty="0" smtClean="0">
                          <a:solidFill>
                            <a:schemeClr val="tx1"/>
                          </a:solidFill>
                          <a:effectLst/>
                          <a:latin typeface="+mn-lt"/>
                          <a:ea typeface="+mn-ea"/>
                          <a:cs typeface="+mn-cs"/>
                        </a:rPr>
                        <a:t> </a:t>
                      </a:r>
                      <a:r>
                        <a:rPr kumimoji="0" lang="en-US" sz="1400" b="0" i="0" kern="1200" baseline="0" dirty="0" err="1" smtClean="0">
                          <a:solidFill>
                            <a:schemeClr val="tx1"/>
                          </a:solidFill>
                          <a:effectLst/>
                          <a:latin typeface="+mn-lt"/>
                          <a:ea typeface="+mn-ea"/>
                          <a:cs typeface="+mn-cs"/>
                        </a:rPr>
                        <a:t>chứng</a:t>
                      </a:r>
                      <a:r>
                        <a:rPr kumimoji="0" lang="en-US" sz="1400" b="0" i="0" kern="1200" baseline="0" dirty="0" smtClean="0">
                          <a:solidFill>
                            <a:schemeClr val="tx1"/>
                          </a:solidFill>
                          <a:effectLst/>
                          <a:latin typeface="+mn-lt"/>
                          <a:ea typeface="+mn-ea"/>
                          <a:cs typeface="+mn-cs"/>
                        </a:rPr>
                        <a:t> </a:t>
                      </a:r>
                      <a:r>
                        <a:rPr kumimoji="0" lang="en-US" sz="1400" b="0" i="0" kern="1200" baseline="0" dirty="0" err="1" smtClean="0">
                          <a:solidFill>
                            <a:schemeClr val="tx1"/>
                          </a:solidFill>
                          <a:effectLst/>
                          <a:latin typeface="+mn-lt"/>
                          <a:ea typeface="+mn-ea"/>
                          <a:cs typeface="+mn-cs"/>
                        </a:rPr>
                        <a:t>khóa</a:t>
                      </a:r>
                      <a:r>
                        <a:rPr kumimoji="0" lang="en-US" sz="1400" b="0" i="0" kern="1200" baseline="0" dirty="0" smtClean="0">
                          <a:solidFill>
                            <a:schemeClr val="tx1"/>
                          </a:solidFill>
                          <a:effectLst/>
                          <a:latin typeface="+mn-lt"/>
                          <a:ea typeface="+mn-ea"/>
                          <a:cs typeface="+mn-cs"/>
                        </a:rPr>
                        <a:t> </a:t>
                      </a:r>
                      <a:r>
                        <a:rPr kumimoji="0" lang="en-US" sz="1400" b="0" i="0" kern="1200" baseline="0" dirty="0" err="1" smtClean="0">
                          <a:solidFill>
                            <a:schemeClr val="tx1"/>
                          </a:solidFill>
                          <a:effectLst/>
                          <a:latin typeface="+mn-lt"/>
                          <a:ea typeface="+mn-ea"/>
                          <a:cs typeface="+mn-cs"/>
                        </a:rPr>
                        <a:t>từ</a:t>
                      </a:r>
                      <a:r>
                        <a:rPr kumimoji="0" lang="en-US" sz="1400" b="0" i="0" kern="1200" baseline="0" dirty="0" smtClean="0">
                          <a:solidFill>
                            <a:schemeClr val="tx1"/>
                          </a:solidFill>
                          <a:effectLst/>
                          <a:latin typeface="+mn-lt"/>
                          <a:ea typeface="+mn-ea"/>
                          <a:cs typeface="+mn-cs"/>
                        </a:rPr>
                        <a:t> </a:t>
                      </a:r>
                      <a:r>
                        <a:rPr kumimoji="0" lang="en-US" sz="1400" b="0" i="0" kern="1200" baseline="0" dirty="0" err="1" smtClean="0">
                          <a:solidFill>
                            <a:schemeClr val="tx1"/>
                          </a:solidFill>
                          <a:effectLst/>
                          <a:latin typeface="+mn-lt"/>
                          <a:ea typeface="+mn-ea"/>
                          <a:cs typeface="+mn-cs"/>
                        </a:rPr>
                        <a:t>nguồn</a:t>
                      </a:r>
                      <a:r>
                        <a:rPr kumimoji="0" lang="en-US" sz="1400" b="0" i="0" kern="1200" baseline="0" dirty="0" smtClean="0">
                          <a:solidFill>
                            <a:schemeClr val="tx1"/>
                          </a:solidFill>
                          <a:effectLst/>
                          <a:latin typeface="+mn-lt"/>
                          <a:ea typeface="+mn-ea"/>
                          <a:cs typeface="+mn-cs"/>
                        </a:rPr>
                        <a:t> VCI.</a:t>
                      </a:r>
                    </a:p>
                    <a:p>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US" sz="1400" b="0" i="0" kern="1200" dirty="0" err="1" smtClean="0">
                          <a:solidFill>
                            <a:schemeClr val="tx1"/>
                          </a:solidFill>
                          <a:effectLst/>
                          <a:latin typeface="+mn-lt"/>
                          <a:ea typeface="+mn-ea"/>
                          <a:cs typeface="+mn-cs"/>
                        </a:rPr>
                        <a:t>Chuẩn</a:t>
                      </a:r>
                      <a:r>
                        <a:rPr kumimoji="0" lang="en-US" sz="1400" b="0" i="0" kern="1200" dirty="0" smtClean="0">
                          <a:solidFill>
                            <a:schemeClr val="tx1"/>
                          </a:solidFill>
                          <a:effectLst/>
                          <a:latin typeface="+mn-lt"/>
                          <a:ea typeface="+mn-ea"/>
                          <a:cs typeface="+mn-cs"/>
                        </a:rPr>
                        <a:t> </a:t>
                      </a:r>
                      <a:r>
                        <a:rPr kumimoji="0" lang="en-US" sz="1400" b="0" i="0" kern="1200" dirty="0" err="1" smtClean="0">
                          <a:solidFill>
                            <a:schemeClr val="tx1"/>
                          </a:solidFill>
                          <a:effectLst/>
                          <a:latin typeface="+mn-lt"/>
                          <a:ea typeface="+mn-ea"/>
                          <a:cs typeface="+mn-cs"/>
                        </a:rPr>
                        <a:t>hóa</a:t>
                      </a:r>
                      <a:r>
                        <a:rPr kumimoji="0" lang="en-US" sz="1400" b="0" i="0" kern="1200" dirty="0" smtClean="0">
                          <a:solidFill>
                            <a:schemeClr val="tx1"/>
                          </a:solidFill>
                          <a:effectLst/>
                          <a:latin typeface="+mn-lt"/>
                          <a:ea typeface="+mn-ea"/>
                          <a:cs typeface="+mn-cs"/>
                        </a:rPr>
                        <a:t> </a:t>
                      </a:r>
                      <a:r>
                        <a:rPr kumimoji="0" lang="en-US" sz="1400" b="0" i="0" kern="1200" dirty="0" err="1" smtClean="0">
                          <a:solidFill>
                            <a:schemeClr val="tx1"/>
                          </a:solidFill>
                          <a:effectLst/>
                          <a:latin typeface="+mn-lt"/>
                          <a:ea typeface="+mn-ea"/>
                          <a:cs typeface="+mn-cs"/>
                        </a:rPr>
                        <a:t>dữ</a:t>
                      </a:r>
                      <a:r>
                        <a:rPr kumimoji="0" lang="en-US" sz="1400" b="0" i="0" kern="1200" dirty="0" smtClean="0">
                          <a:solidFill>
                            <a:schemeClr val="tx1"/>
                          </a:solidFill>
                          <a:effectLst/>
                          <a:latin typeface="+mn-lt"/>
                          <a:ea typeface="+mn-ea"/>
                          <a:cs typeface="+mn-cs"/>
                        </a:rPr>
                        <a:t> </a:t>
                      </a:r>
                      <a:r>
                        <a:rPr kumimoji="0" lang="en-US" sz="1400" b="0" i="0" kern="1200" dirty="0" err="1" smtClean="0">
                          <a:solidFill>
                            <a:schemeClr val="tx1"/>
                          </a:solidFill>
                          <a:effectLst/>
                          <a:latin typeface="+mn-lt"/>
                          <a:ea typeface="+mn-ea"/>
                          <a:cs typeface="+mn-cs"/>
                        </a:rPr>
                        <a:t>liệu</a:t>
                      </a:r>
                      <a:r>
                        <a:rPr kumimoji="0" lang="en-US" sz="1400" b="0" i="0" kern="1200" dirty="0" smtClean="0">
                          <a:solidFill>
                            <a:schemeClr val="tx1"/>
                          </a:solidFill>
                          <a:effectLst/>
                          <a:latin typeface="+mn-lt"/>
                          <a:ea typeface="+mn-ea"/>
                          <a:cs typeface="+mn-cs"/>
                        </a:rPr>
                        <a:t> </a:t>
                      </a:r>
                      <a:r>
                        <a:rPr kumimoji="0" lang="en-US" sz="1400" b="0" i="0" kern="1200" dirty="0" err="1" smtClean="0">
                          <a:solidFill>
                            <a:schemeClr val="tx1"/>
                          </a:solidFill>
                          <a:effectLst/>
                          <a:latin typeface="+mn-lt"/>
                          <a:ea typeface="+mn-ea"/>
                          <a:cs typeface="+mn-cs"/>
                        </a:rPr>
                        <a:t>về</a:t>
                      </a:r>
                      <a:r>
                        <a:rPr kumimoji="0" lang="en-US" sz="1400" b="0" i="0" kern="1200" dirty="0" smtClean="0">
                          <a:solidFill>
                            <a:schemeClr val="tx1"/>
                          </a:solidFill>
                          <a:effectLst/>
                          <a:latin typeface="+mn-lt"/>
                          <a:ea typeface="+mn-ea"/>
                          <a:cs typeface="+mn-cs"/>
                        </a:rPr>
                        <a:t> </a:t>
                      </a:r>
                      <a:r>
                        <a:rPr kumimoji="0" lang="en-US" sz="1400" b="0" i="0" kern="1200" dirty="0" err="1" smtClean="0">
                          <a:solidFill>
                            <a:schemeClr val="tx1"/>
                          </a:solidFill>
                          <a:effectLst/>
                          <a:latin typeface="+mn-lt"/>
                          <a:ea typeface="+mn-ea"/>
                          <a:cs typeface="+mn-cs"/>
                        </a:rPr>
                        <a:t>khoảng</a:t>
                      </a:r>
                      <a:r>
                        <a:rPr kumimoji="0" lang="en-US" sz="1400" b="0" i="0" kern="1200" dirty="0" smtClean="0">
                          <a:solidFill>
                            <a:schemeClr val="tx1"/>
                          </a:solidFill>
                          <a:effectLst/>
                          <a:latin typeface="+mn-lt"/>
                          <a:ea typeface="+mn-ea"/>
                          <a:cs typeface="+mn-cs"/>
                        </a:rPr>
                        <a:t>:</a:t>
                      </a:r>
                      <a:r>
                        <a:rPr kumimoji="0" lang="en-US" sz="1400" b="0" i="0" kern="1200" baseline="0" dirty="0" smtClean="0">
                          <a:solidFill>
                            <a:schemeClr val="tx1"/>
                          </a:solidFill>
                          <a:effectLst/>
                          <a:latin typeface="+mn-lt"/>
                          <a:ea typeface="+mn-ea"/>
                          <a:cs typeface="+mn-cs"/>
                        </a:rPr>
                        <a:t> </a:t>
                      </a:r>
                      <a:r>
                        <a:rPr kumimoji="0" lang="en-US" sz="1400" b="0" i="0" kern="1200" dirty="0" smtClean="0">
                          <a:solidFill>
                            <a:schemeClr val="tx1"/>
                          </a:solidFill>
                          <a:effectLst/>
                          <a:latin typeface="+mn-lt"/>
                          <a:ea typeface="+mn-ea"/>
                          <a:cs typeface="+mn-cs"/>
                        </a:rPr>
                        <a:t>0~1 </a:t>
                      </a:r>
                      <a:r>
                        <a:rPr kumimoji="0" lang="en-US" sz="1400" b="0" i="0" kern="1200" dirty="0" err="1" smtClean="0">
                          <a:solidFill>
                            <a:schemeClr val="tx1"/>
                          </a:solidFill>
                          <a:effectLst/>
                          <a:latin typeface="+mn-lt"/>
                          <a:ea typeface="+mn-ea"/>
                          <a:cs typeface="+mn-cs"/>
                        </a:rPr>
                        <a:t>cho</a:t>
                      </a:r>
                      <a:r>
                        <a:rPr kumimoji="0" lang="en-US" sz="1400" b="0" i="0" kern="1200" dirty="0" smtClean="0">
                          <a:solidFill>
                            <a:schemeClr val="tx1"/>
                          </a:solidFill>
                          <a:effectLst/>
                          <a:latin typeface="+mn-lt"/>
                          <a:ea typeface="+mn-ea"/>
                          <a:cs typeface="+mn-cs"/>
                        </a:rPr>
                        <a:t> </a:t>
                      </a:r>
                      <a:r>
                        <a:rPr kumimoji="0" lang="en-US" sz="1400" b="0" i="0" kern="1200" dirty="0" err="1" smtClean="0">
                          <a:solidFill>
                            <a:schemeClr val="tx1"/>
                          </a:solidFill>
                          <a:effectLst/>
                          <a:latin typeface="+mn-lt"/>
                          <a:ea typeface="+mn-ea"/>
                          <a:cs typeface="+mn-cs"/>
                        </a:rPr>
                        <a:t>các</a:t>
                      </a:r>
                      <a:r>
                        <a:rPr kumimoji="0" lang="en-US" sz="1400" b="0" i="0" kern="1200" baseline="0" dirty="0" smtClean="0">
                          <a:solidFill>
                            <a:schemeClr val="tx1"/>
                          </a:solidFill>
                          <a:effectLst/>
                          <a:latin typeface="+mn-lt"/>
                          <a:ea typeface="+mn-ea"/>
                          <a:cs typeface="+mn-cs"/>
                        </a:rPr>
                        <a:t> features: Close, Volume, RSI, MA</a:t>
                      </a:r>
                      <a:endParaRPr kumimoji="0" lang="en-US" sz="1400" b="0" i="0" kern="1200" dirty="0" smtClean="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US" sz="1400" b="0" i="0" kern="1200" dirty="0" err="1" smtClean="0">
                          <a:solidFill>
                            <a:schemeClr val="tx1"/>
                          </a:solidFill>
                          <a:effectLst/>
                          <a:latin typeface="+mn-lt"/>
                          <a:ea typeface="+mn-ea"/>
                          <a:cs typeface="+mn-cs"/>
                        </a:rPr>
                        <a:t>Thiết</a:t>
                      </a:r>
                      <a:r>
                        <a:rPr kumimoji="0" lang="en-US" sz="1400" b="0" i="0" kern="1200" dirty="0" smtClean="0">
                          <a:solidFill>
                            <a:schemeClr val="tx1"/>
                          </a:solidFill>
                          <a:effectLst/>
                          <a:latin typeface="+mn-lt"/>
                          <a:ea typeface="+mn-ea"/>
                          <a:cs typeface="+mn-cs"/>
                        </a:rPr>
                        <a:t> </a:t>
                      </a:r>
                      <a:r>
                        <a:rPr kumimoji="0" lang="en-US" sz="1400" b="0" i="0" kern="1200" dirty="0" err="1" smtClean="0">
                          <a:solidFill>
                            <a:schemeClr val="tx1"/>
                          </a:solidFill>
                          <a:effectLst/>
                          <a:latin typeface="+mn-lt"/>
                          <a:ea typeface="+mn-ea"/>
                          <a:cs typeface="+mn-cs"/>
                        </a:rPr>
                        <a:t>kế</a:t>
                      </a:r>
                      <a:r>
                        <a:rPr kumimoji="0" lang="en-US" sz="1400" b="0" i="0" kern="1200" dirty="0" smtClean="0">
                          <a:solidFill>
                            <a:schemeClr val="tx1"/>
                          </a:solidFill>
                          <a:effectLst/>
                          <a:latin typeface="+mn-lt"/>
                          <a:ea typeface="+mn-ea"/>
                          <a:cs typeface="+mn-cs"/>
                        </a:rPr>
                        <a:t> </a:t>
                      </a:r>
                      <a:r>
                        <a:rPr kumimoji="0" lang="en-US" sz="1400" b="0" i="0" kern="1200" dirty="0" err="1" smtClean="0">
                          <a:solidFill>
                            <a:schemeClr val="tx1"/>
                          </a:solidFill>
                          <a:effectLst/>
                          <a:latin typeface="+mn-lt"/>
                          <a:ea typeface="+mn-ea"/>
                          <a:cs typeface="+mn-cs"/>
                        </a:rPr>
                        <a:t>lớp</a:t>
                      </a:r>
                      <a:r>
                        <a:rPr kumimoji="0" lang="en-US" sz="1400" b="0" i="0" kern="1200" dirty="0" smtClean="0">
                          <a:solidFill>
                            <a:schemeClr val="tx1"/>
                          </a:solidFill>
                          <a:effectLst/>
                          <a:latin typeface="+mn-lt"/>
                          <a:ea typeface="+mn-ea"/>
                          <a:cs typeface="+mn-cs"/>
                        </a:rPr>
                        <a:t> LSTM, Dropout </a:t>
                      </a:r>
                      <a:r>
                        <a:rPr kumimoji="0" lang="en-US" sz="1400" b="0" i="0" kern="1200" dirty="0" err="1" smtClean="0">
                          <a:solidFill>
                            <a:schemeClr val="tx1"/>
                          </a:solidFill>
                          <a:effectLst/>
                          <a:latin typeface="+mn-lt"/>
                          <a:ea typeface="+mn-ea"/>
                          <a:cs typeface="+mn-cs"/>
                        </a:rPr>
                        <a:t>và</a:t>
                      </a:r>
                      <a:r>
                        <a:rPr kumimoji="0" lang="en-US" sz="1400" b="0" i="0" kern="1200" dirty="0" smtClean="0">
                          <a:solidFill>
                            <a:schemeClr val="tx1"/>
                          </a:solidFill>
                          <a:effectLst/>
                          <a:latin typeface="+mn-lt"/>
                          <a:ea typeface="+mn-ea"/>
                          <a:cs typeface="+mn-cs"/>
                        </a:rPr>
                        <a:t> Dense.</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US" sz="1400" b="0" i="0" kern="1200" dirty="0" err="1" smtClean="0">
                          <a:solidFill>
                            <a:schemeClr val="tx1"/>
                          </a:solidFill>
                          <a:effectLst/>
                          <a:latin typeface="+mn-lt"/>
                          <a:ea typeface="+mn-ea"/>
                          <a:cs typeface="+mn-cs"/>
                        </a:rPr>
                        <a:t>Huấn</a:t>
                      </a:r>
                      <a:r>
                        <a:rPr kumimoji="0" lang="en-US" sz="1400" b="0" i="0" kern="1200" baseline="0" dirty="0" smtClean="0">
                          <a:solidFill>
                            <a:schemeClr val="tx1"/>
                          </a:solidFill>
                          <a:effectLst/>
                          <a:latin typeface="+mn-lt"/>
                          <a:ea typeface="+mn-ea"/>
                          <a:cs typeface="+mn-cs"/>
                        </a:rPr>
                        <a:t> </a:t>
                      </a:r>
                      <a:r>
                        <a:rPr kumimoji="0" lang="en-US" sz="1400" b="0" i="0" kern="1200" baseline="0" dirty="0" err="1" smtClean="0">
                          <a:solidFill>
                            <a:schemeClr val="tx1"/>
                          </a:solidFill>
                          <a:effectLst/>
                          <a:latin typeface="+mn-lt"/>
                          <a:ea typeface="+mn-ea"/>
                          <a:cs typeface="+mn-cs"/>
                        </a:rPr>
                        <a:t>luyện</a:t>
                      </a:r>
                      <a:r>
                        <a:rPr kumimoji="0" lang="en-US" sz="1400" b="0" i="0" kern="1200" baseline="0" dirty="0" smtClean="0">
                          <a:solidFill>
                            <a:schemeClr val="tx1"/>
                          </a:solidFill>
                          <a:effectLst/>
                          <a:latin typeface="+mn-lt"/>
                          <a:ea typeface="+mn-ea"/>
                          <a:cs typeface="+mn-cs"/>
                        </a:rPr>
                        <a:t> </a:t>
                      </a:r>
                      <a:r>
                        <a:rPr kumimoji="0" lang="en-US" sz="1400" b="0" i="0" kern="1200" baseline="0" dirty="0" err="1" smtClean="0">
                          <a:solidFill>
                            <a:schemeClr val="tx1"/>
                          </a:solidFill>
                          <a:effectLst/>
                          <a:latin typeface="+mn-lt"/>
                          <a:ea typeface="+mn-ea"/>
                          <a:cs typeface="+mn-cs"/>
                        </a:rPr>
                        <a:t>máy</a:t>
                      </a:r>
                      <a:r>
                        <a:rPr kumimoji="0" lang="en-US" sz="1400" b="0" i="0" kern="1200" baseline="0" dirty="0" smtClean="0">
                          <a:solidFill>
                            <a:schemeClr val="tx1"/>
                          </a:solidFill>
                          <a:effectLst/>
                          <a:latin typeface="+mn-lt"/>
                          <a:ea typeface="+mn-ea"/>
                          <a:cs typeface="+mn-cs"/>
                        </a:rPr>
                        <a:t> </a:t>
                      </a:r>
                      <a:r>
                        <a:rPr kumimoji="0" lang="en-US" sz="1400" b="0" i="0" kern="1200" baseline="0" dirty="0" err="1" smtClean="0">
                          <a:solidFill>
                            <a:schemeClr val="tx1"/>
                          </a:solidFill>
                          <a:effectLst/>
                          <a:latin typeface="+mn-lt"/>
                          <a:ea typeface="+mn-ea"/>
                          <a:cs typeface="+mn-cs"/>
                        </a:rPr>
                        <a:t>với</a:t>
                      </a:r>
                      <a:r>
                        <a:rPr kumimoji="0" lang="en-US" sz="1400" b="0" i="0" kern="1200" baseline="0" dirty="0" smtClean="0">
                          <a:solidFill>
                            <a:schemeClr val="tx1"/>
                          </a:solidFill>
                          <a:effectLst/>
                          <a:latin typeface="+mn-lt"/>
                          <a:ea typeface="+mn-ea"/>
                          <a:cs typeface="+mn-cs"/>
                        </a:rPr>
                        <a:t> </a:t>
                      </a:r>
                      <a:r>
                        <a:rPr kumimoji="0" lang="en-US" sz="1400" b="0" i="0" kern="1200" baseline="0" dirty="0" err="1" smtClean="0">
                          <a:solidFill>
                            <a:schemeClr val="tx1"/>
                          </a:solidFill>
                          <a:effectLst/>
                          <a:latin typeface="+mn-lt"/>
                          <a:ea typeface="+mn-ea"/>
                          <a:cs typeface="+mn-cs"/>
                        </a:rPr>
                        <a:t>toàn</a:t>
                      </a:r>
                      <a:r>
                        <a:rPr kumimoji="0" lang="en-US" sz="1400" b="0" i="0" kern="1200" baseline="0" dirty="0" smtClean="0">
                          <a:solidFill>
                            <a:schemeClr val="tx1"/>
                          </a:solidFill>
                          <a:effectLst/>
                          <a:latin typeface="+mn-lt"/>
                          <a:ea typeface="+mn-ea"/>
                          <a:cs typeface="+mn-cs"/>
                        </a:rPr>
                        <a:t> </a:t>
                      </a:r>
                      <a:r>
                        <a:rPr kumimoji="0" lang="en-US" sz="1400" b="0" i="0" kern="1200" baseline="0" dirty="0" err="1" smtClean="0">
                          <a:solidFill>
                            <a:schemeClr val="tx1"/>
                          </a:solidFill>
                          <a:effectLst/>
                          <a:latin typeface="+mn-lt"/>
                          <a:ea typeface="+mn-ea"/>
                          <a:cs typeface="+mn-cs"/>
                        </a:rPr>
                        <a:t>bộ</a:t>
                      </a:r>
                      <a:r>
                        <a:rPr kumimoji="0" lang="en-US" sz="1400" b="0" i="0" kern="1200" baseline="0" dirty="0" smtClean="0">
                          <a:solidFill>
                            <a:schemeClr val="tx1"/>
                          </a:solidFill>
                          <a:effectLst/>
                          <a:latin typeface="+mn-lt"/>
                          <a:ea typeface="+mn-ea"/>
                          <a:cs typeface="+mn-cs"/>
                        </a:rPr>
                        <a:t> </a:t>
                      </a:r>
                      <a:r>
                        <a:rPr kumimoji="0" lang="en-US" sz="1400" b="0" i="0" kern="1200" baseline="0" dirty="0" err="1" smtClean="0">
                          <a:solidFill>
                            <a:schemeClr val="tx1"/>
                          </a:solidFill>
                          <a:effectLst/>
                          <a:latin typeface="+mn-lt"/>
                          <a:ea typeface="+mn-ea"/>
                          <a:cs typeface="+mn-cs"/>
                        </a:rPr>
                        <a:t>dữ</a:t>
                      </a:r>
                      <a:r>
                        <a:rPr kumimoji="0" lang="en-US" sz="1400" b="0" i="0" kern="1200" baseline="0" dirty="0" smtClean="0">
                          <a:solidFill>
                            <a:schemeClr val="tx1"/>
                          </a:solidFill>
                          <a:effectLst/>
                          <a:latin typeface="+mn-lt"/>
                          <a:ea typeface="+mn-ea"/>
                          <a:cs typeface="+mn-cs"/>
                        </a:rPr>
                        <a:t> </a:t>
                      </a:r>
                      <a:r>
                        <a:rPr kumimoji="0" lang="en-US" sz="1400" b="0" i="0" kern="1200" baseline="0" dirty="0" err="1" smtClean="0">
                          <a:solidFill>
                            <a:schemeClr val="tx1"/>
                          </a:solidFill>
                          <a:effectLst/>
                          <a:latin typeface="+mn-lt"/>
                          <a:ea typeface="+mn-ea"/>
                          <a:cs typeface="+mn-cs"/>
                        </a:rPr>
                        <a:t>liệu</a:t>
                      </a:r>
                      <a:r>
                        <a:rPr kumimoji="0" lang="en-US" sz="1400" b="0" i="0" kern="1200" baseline="0" dirty="0" smtClean="0">
                          <a:solidFill>
                            <a:schemeClr val="tx1"/>
                          </a:solidFill>
                          <a:effectLst/>
                          <a:latin typeface="+mn-lt"/>
                          <a:ea typeface="+mn-ea"/>
                          <a:cs typeface="+mn-cs"/>
                        </a:rPr>
                        <a:t> </a:t>
                      </a:r>
                      <a:r>
                        <a:rPr kumimoji="0" lang="en-US" sz="1400" b="0" i="0" kern="1200" baseline="0" dirty="0" err="1" smtClean="0">
                          <a:solidFill>
                            <a:schemeClr val="tx1"/>
                          </a:solidFill>
                          <a:effectLst/>
                          <a:latin typeface="+mn-lt"/>
                          <a:ea typeface="+mn-ea"/>
                          <a:cs typeface="+mn-cs"/>
                        </a:rPr>
                        <a:t>từ</a:t>
                      </a:r>
                      <a:r>
                        <a:rPr kumimoji="0" lang="en-US" sz="1400" b="0" i="0" kern="1200" baseline="0" dirty="0" smtClean="0">
                          <a:solidFill>
                            <a:schemeClr val="tx1"/>
                          </a:solidFill>
                          <a:effectLst/>
                          <a:latin typeface="+mn-lt"/>
                          <a:ea typeface="+mn-ea"/>
                          <a:cs typeface="+mn-cs"/>
                        </a:rPr>
                        <a:t> 1/1/2025 </a:t>
                      </a:r>
                      <a:r>
                        <a:rPr kumimoji="0" lang="en-US" sz="1400" b="0" i="0" kern="1200" baseline="0" dirty="0" err="1" smtClean="0">
                          <a:solidFill>
                            <a:schemeClr val="tx1"/>
                          </a:solidFill>
                          <a:effectLst/>
                          <a:latin typeface="+mn-lt"/>
                          <a:ea typeface="+mn-ea"/>
                          <a:cs typeface="+mn-cs"/>
                        </a:rPr>
                        <a:t>đến</a:t>
                      </a:r>
                      <a:r>
                        <a:rPr kumimoji="0" lang="en-US" sz="1400" b="0" i="0" kern="1200" baseline="0" dirty="0" smtClean="0">
                          <a:solidFill>
                            <a:schemeClr val="tx1"/>
                          </a:solidFill>
                          <a:effectLst/>
                          <a:latin typeface="+mn-lt"/>
                          <a:ea typeface="+mn-ea"/>
                          <a:cs typeface="+mn-cs"/>
                        </a:rPr>
                        <a:t> 31/12/2025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vi-VN" sz="1400" b="0" i="0" kern="1200" dirty="0" smtClean="0">
                          <a:solidFill>
                            <a:schemeClr val="tx1"/>
                          </a:solidFill>
                          <a:effectLst/>
                          <a:latin typeface="+mn-lt"/>
                          <a:ea typeface="+mn-ea"/>
                          <a:cs typeface="+mn-cs"/>
                        </a:rPr>
                        <a:t>Backtesting đánh giá hiệu quả thực tế.</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1" y="3048000"/>
            <a:ext cx="1600199" cy="200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86400" y="3048000"/>
            <a:ext cx="1676399" cy="971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81201" y="3048000"/>
            <a:ext cx="1600200" cy="2006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33800" y="3048000"/>
            <a:ext cx="1676400" cy="685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315201" y="3048000"/>
            <a:ext cx="1607206"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20975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cap="all" dirty="0" err="1"/>
              <a:t>Kiến</a:t>
            </a:r>
            <a:r>
              <a:rPr lang="en-US" sz="2800" b="1" cap="all" dirty="0"/>
              <a:t> </a:t>
            </a:r>
            <a:r>
              <a:rPr lang="en-US" sz="2800" b="1" cap="all" dirty="0" err="1"/>
              <a:t>trúc</a:t>
            </a:r>
            <a:r>
              <a:rPr lang="en-US" sz="2800" b="1" cap="all" dirty="0"/>
              <a:t> </a:t>
            </a:r>
            <a:r>
              <a:rPr lang="en-US" sz="2800" b="1" cap="all" dirty="0" err="1"/>
              <a:t>mô</a:t>
            </a:r>
            <a:r>
              <a:rPr lang="en-US" sz="2800" b="1" cap="all" dirty="0"/>
              <a:t> </a:t>
            </a:r>
            <a:r>
              <a:rPr lang="en-US" sz="2800" b="1" cap="all" dirty="0" err="1"/>
              <a:t>hình</a:t>
            </a:r>
            <a:r>
              <a:rPr lang="en-US" sz="2800" b="1" cap="all" dirty="0"/>
              <a:t> </a:t>
            </a:r>
            <a:r>
              <a:rPr lang="en-US" sz="2800" b="1" cap="all" dirty="0" err="1"/>
              <a:t>Đa</a:t>
            </a:r>
            <a:r>
              <a:rPr lang="en-US" sz="2800" b="1" cap="all" dirty="0"/>
              <a:t> </a:t>
            </a:r>
            <a:r>
              <a:rPr lang="en-US" sz="2800" b="1" cap="all" dirty="0" err="1" smtClean="0"/>
              <a:t>biến</a:t>
            </a:r>
            <a:endParaRPr lang="en-US" sz="2800" dirty="0"/>
          </a:p>
        </p:txBody>
      </p:sp>
      <p:sp>
        <p:nvSpPr>
          <p:cNvPr id="4" name="Content Placeholder 3"/>
          <p:cNvSpPr>
            <a:spLocks noGrp="1"/>
          </p:cNvSpPr>
          <p:nvPr>
            <p:ph sz="half" idx="2"/>
          </p:nvPr>
        </p:nvSpPr>
        <p:spPr>
          <a:xfrm>
            <a:off x="304800" y="1371600"/>
            <a:ext cx="4038600" cy="4681728"/>
          </a:xfrm>
        </p:spPr>
        <p:txBody>
          <a:bodyPr anchor="ctr">
            <a:normAutofit/>
          </a:bodyPr>
          <a:lstStyle/>
          <a:p>
            <a:pPr marL="0" indent="0">
              <a:buNone/>
            </a:pPr>
            <a:r>
              <a:rPr lang="vi-VN" sz="1600" b="1" dirty="0"/>
              <a:t>Đầu vào (Features)</a:t>
            </a:r>
          </a:p>
          <a:p>
            <a:r>
              <a:rPr lang="en-US" sz="1600" dirty="0" err="1" smtClean="0"/>
              <a:t>Giá</a:t>
            </a:r>
            <a:r>
              <a:rPr lang="en-US" sz="1600" dirty="0" smtClean="0"/>
              <a:t> </a:t>
            </a:r>
            <a:r>
              <a:rPr lang="en-US" sz="1600" dirty="0" err="1" smtClean="0"/>
              <a:t>đóng</a:t>
            </a:r>
            <a:r>
              <a:rPr lang="en-US" sz="1600" dirty="0" smtClean="0"/>
              <a:t> </a:t>
            </a:r>
            <a:r>
              <a:rPr lang="en-US" sz="1600" dirty="0" err="1" smtClean="0"/>
              <a:t>cửa</a:t>
            </a:r>
            <a:r>
              <a:rPr lang="en-US" sz="1600" dirty="0" smtClean="0"/>
              <a:t> (Close), </a:t>
            </a:r>
            <a:r>
              <a:rPr lang="vi-VN" sz="1600" dirty="0" smtClean="0"/>
              <a:t>Khối </a:t>
            </a:r>
            <a:r>
              <a:rPr lang="vi-VN" sz="1600" dirty="0"/>
              <a:t>lượng (Volume), Chỉ báo sức mạnh (RSI), Biến động xu hướng (MA20).</a:t>
            </a:r>
          </a:p>
          <a:p>
            <a:pPr marL="0" indent="0">
              <a:buNone/>
            </a:pPr>
            <a:r>
              <a:rPr lang="vi-VN" sz="1600" b="1" dirty="0"/>
              <a:t> Lợi ích thực tế</a:t>
            </a:r>
          </a:p>
          <a:p>
            <a:r>
              <a:rPr lang="vi-VN" sz="1600" dirty="0"/>
              <a:t>Giúp AI hiểu bối cảnh thị trường (Ví dụ: Giá tăng nhưng khối lượng thấp là rủi ro bẫy tăng giá</a:t>
            </a:r>
            <a:r>
              <a:rPr lang="vi-VN" sz="1600" dirty="0" smtClean="0"/>
              <a:t>).</a:t>
            </a:r>
            <a:endParaRPr lang="vi-VN" sz="1600" dirty="0"/>
          </a:p>
        </p:txBody>
      </p:sp>
      <p:pic>
        <p:nvPicPr>
          <p:cNvPr id="3074" name="Picture 2" descr="D:\Documents\Study\Master\Học máy cơ bản và ứng dụng - K35\report\LSTM_CVR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828800"/>
            <a:ext cx="4267200"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71943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sz="2800" b="1" cap="all" dirty="0"/>
              <a:t>Dự báo tương lai (Encoder-Decoder</a:t>
            </a:r>
            <a:r>
              <a:rPr lang="vi-VN" sz="2800" b="1" cap="all" dirty="0" smtClean="0"/>
              <a:t>)</a:t>
            </a:r>
            <a:endParaRPr lang="en-US" sz="2800" dirty="0"/>
          </a:p>
        </p:txBody>
      </p:sp>
      <p:sp>
        <p:nvSpPr>
          <p:cNvPr id="3" name="Content Placeholder 2"/>
          <p:cNvSpPr>
            <a:spLocks noGrp="1"/>
          </p:cNvSpPr>
          <p:nvPr>
            <p:ph sz="half" idx="1"/>
          </p:nvPr>
        </p:nvSpPr>
        <p:spPr/>
        <p:txBody>
          <a:bodyPr anchor="ctr">
            <a:normAutofit/>
          </a:bodyPr>
          <a:lstStyle/>
          <a:p>
            <a:r>
              <a:rPr lang="vi-VN" sz="2000" b="1" dirty="0"/>
              <a:t>Encoder (Mã hóa)</a:t>
            </a:r>
          </a:p>
          <a:p>
            <a:r>
              <a:rPr lang="vi-VN" sz="2000" dirty="0"/>
              <a:t>Nén 60 ngày dữ liệu lịch sử thành một vector thông tin đặc trưng (Context Vector). Đây là "bộ nhớ" tóm tắt quá khứ</a:t>
            </a:r>
            <a:r>
              <a:rPr lang="vi-VN" sz="2000" dirty="0" smtClean="0"/>
              <a:t>.</a:t>
            </a:r>
            <a:endParaRPr lang="vi-VN" sz="2000" dirty="0"/>
          </a:p>
        </p:txBody>
      </p:sp>
      <p:sp>
        <p:nvSpPr>
          <p:cNvPr id="4" name="Content Placeholder 3"/>
          <p:cNvSpPr>
            <a:spLocks noGrp="1"/>
          </p:cNvSpPr>
          <p:nvPr>
            <p:ph sz="half" idx="2"/>
          </p:nvPr>
        </p:nvSpPr>
        <p:spPr/>
        <p:txBody>
          <a:bodyPr anchor="ctr">
            <a:normAutofit/>
          </a:bodyPr>
          <a:lstStyle/>
          <a:p>
            <a:r>
              <a:rPr lang="en-US" sz="2000" b="1" dirty="0"/>
              <a:t>Decoder (</a:t>
            </a:r>
            <a:r>
              <a:rPr lang="en-US" sz="2000" b="1" dirty="0" err="1"/>
              <a:t>Giải</a:t>
            </a:r>
            <a:r>
              <a:rPr lang="en-US" sz="2000" b="1" dirty="0"/>
              <a:t> </a:t>
            </a:r>
            <a:r>
              <a:rPr lang="en-US" sz="2000" b="1" dirty="0" err="1"/>
              <a:t>mã</a:t>
            </a:r>
            <a:r>
              <a:rPr lang="en-US" sz="2000" b="1" dirty="0"/>
              <a:t>)</a:t>
            </a:r>
          </a:p>
          <a:p>
            <a:r>
              <a:rPr lang="en-US" sz="2000" dirty="0" err="1"/>
              <a:t>Từ</a:t>
            </a:r>
            <a:r>
              <a:rPr lang="en-US" sz="2000" dirty="0"/>
              <a:t> vector </a:t>
            </a:r>
            <a:r>
              <a:rPr lang="en-US" sz="2000" dirty="0" err="1"/>
              <a:t>bối</a:t>
            </a:r>
            <a:r>
              <a:rPr lang="en-US" sz="2000" dirty="0"/>
              <a:t> </a:t>
            </a:r>
            <a:r>
              <a:rPr lang="en-US" sz="2000" dirty="0" err="1"/>
              <a:t>cảnh</a:t>
            </a:r>
            <a:r>
              <a:rPr lang="en-US" sz="2000" dirty="0"/>
              <a:t>, </a:t>
            </a:r>
            <a:r>
              <a:rPr lang="en-US" sz="2000" dirty="0" err="1"/>
              <a:t>mô</a:t>
            </a:r>
            <a:r>
              <a:rPr lang="en-US" sz="2000" dirty="0"/>
              <a:t> </a:t>
            </a:r>
            <a:r>
              <a:rPr lang="en-US" sz="2000" dirty="0" err="1"/>
              <a:t>hình</a:t>
            </a:r>
            <a:r>
              <a:rPr lang="en-US" sz="2000" dirty="0"/>
              <a:t> "</a:t>
            </a:r>
            <a:r>
              <a:rPr lang="en-US" sz="2000" dirty="0" err="1"/>
              <a:t>vẽ</a:t>
            </a:r>
            <a:r>
              <a:rPr lang="en-US" sz="2000" dirty="0"/>
              <a:t>" </a:t>
            </a:r>
            <a:r>
              <a:rPr lang="en-US" sz="2000" dirty="0" err="1"/>
              <a:t>ra</a:t>
            </a:r>
            <a:r>
              <a:rPr lang="en-US" sz="2000" dirty="0"/>
              <a:t> </a:t>
            </a:r>
            <a:r>
              <a:rPr lang="en-US" sz="2000" dirty="0" err="1"/>
              <a:t>chuỗi</a:t>
            </a:r>
            <a:r>
              <a:rPr lang="en-US" sz="2000" dirty="0"/>
              <a:t> </a:t>
            </a:r>
            <a:r>
              <a:rPr lang="en-US" sz="2000" dirty="0" err="1"/>
              <a:t>giá</a:t>
            </a:r>
            <a:r>
              <a:rPr lang="en-US" sz="2000" dirty="0"/>
              <a:t> </a:t>
            </a:r>
            <a:r>
              <a:rPr lang="en-US" sz="2000" dirty="0" err="1"/>
              <a:t>dự</a:t>
            </a:r>
            <a:r>
              <a:rPr lang="en-US" sz="2000" dirty="0"/>
              <a:t> </a:t>
            </a:r>
            <a:r>
              <a:rPr lang="en-US" sz="2000" dirty="0" err="1"/>
              <a:t>kiến</a:t>
            </a:r>
            <a:r>
              <a:rPr lang="en-US" sz="2000" dirty="0"/>
              <a:t> </a:t>
            </a:r>
            <a:r>
              <a:rPr lang="en-US" sz="2000" dirty="0" err="1"/>
              <a:t>cho</a:t>
            </a:r>
            <a:r>
              <a:rPr lang="en-US" sz="2000" dirty="0"/>
              <a:t> 7 </a:t>
            </a:r>
            <a:r>
              <a:rPr lang="en-US" sz="2000" dirty="0" err="1"/>
              <a:t>ngày</a:t>
            </a:r>
            <a:r>
              <a:rPr lang="en-US" sz="2000" dirty="0"/>
              <a:t> </a:t>
            </a:r>
            <a:r>
              <a:rPr lang="en-US" sz="2000" dirty="0" err="1"/>
              <a:t>tiếp</a:t>
            </a:r>
            <a:r>
              <a:rPr lang="en-US" sz="2000" dirty="0"/>
              <a:t> </a:t>
            </a:r>
            <a:r>
              <a:rPr lang="en-US" sz="2000" dirty="0" err="1"/>
              <a:t>theo</a:t>
            </a:r>
            <a:r>
              <a:rPr lang="en-US" sz="2000" dirty="0"/>
              <a:t> </a:t>
            </a:r>
            <a:r>
              <a:rPr lang="en-US" sz="2000" dirty="0" err="1"/>
              <a:t>một</a:t>
            </a:r>
            <a:r>
              <a:rPr lang="en-US" sz="2000" dirty="0"/>
              <a:t> </a:t>
            </a:r>
            <a:r>
              <a:rPr lang="en-US" sz="2000" dirty="0" err="1"/>
              <a:t>cách</a:t>
            </a:r>
            <a:r>
              <a:rPr lang="en-US" sz="2000" dirty="0"/>
              <a:t> </a:t>
            </a:r>
            <a:r>
              <a:rPr lang="en-US" sz="2000" dirty="0" err="1"/>
              <a:t>tuần</a:t>
            </a:r>
            <a:r>
              <a:rPr lang="en-US" sz="2000" dirty="0"/>
              <a:t> </a:t>
            </a:r>
            <a:r>
              <a:rPr lang="en-US" sz="2000" dirty="0" err="1"/>
              <a:t>tự</a:t>
            </a:r>
            <a:r>
              <a:rPr lang="en-US" sz="2000" dirty="0"/>
              <a:t> </a:t>
            </a:r>
            <a:r>
              <a:rPr lang="en-US" sz="2000" dirty="0" err="1"/>
              <a:t>và</a:t>
            </a:r>
            <a:r>
              <a:rPr lang="en-US" sz="2000" dirty="0"/>
              <a:t> logic</a:t>
            </a:r>
            <a:r>
              <a:rPr lang="en-US" sz="2000" dirty="0" smtClean="0"/>
              <a:t>.</a:t>
            </a:r>
            <a:endParaRPr lang="en-US" sz="2000" dirty="0"/>
          </a:p>
        </p:txBody>
      </p:sp>
      <p:sp>
        <p:nvSpPr>
          <p:cNvPr id="5" name="TextBox 4"/>
          <p:cNvSpPr txBox="1"/>
          <p:nvPr/>
        </p:nvSpPr>
        <p:spPr>
          <a:xfrm>
            <a:off x="152401" y="6378909"/>
            <a:ext cx="8839200" cy="307777"/>
          </a:xfrm>
          <a:prstGeom prst="rect">
            <a:avLst/>
          </a:prstGeom>
          <a:noFill/>
        </p:spPr>
        <p:txBody>
          <a:bodyPr wrap="square" rtlCol="0">
            <a:spAutoFit/>
          </a:bodyPr>
          <a:lstStyle/>
          <a:p>
            <a:r>
              <a:rPr lang="vi-VN" sz="1400" b="1" dirty="0"/>
              <a:t>Ưu điểm vượt trội:</a:t>
            </a:r>
            <a:r>
              <a:rPr lang="vi-VN" sz="1400" dirty="0"/>
              <a:t> Hạn chế tối đa sai số tích tụ so với phương pháp dự báo từng ngày một truyền thống.</a:t>
            </a:r>
            <a:endParaRPr lang="en-US" sz="1400" dirty="0"/>
          </a:p>
        </p:txBody>
      </p:sp>
    </p:spTree>
    <p:extLst>
      <p:ext uri="{BB962C8B-B14F-4D97-AF65-F5344CB8AC3E}">
        <p14:creationId xmlns:p14="http://schemas.microsoft.com/office/powerpoint/2010/main" val="9919888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cap="all" dirty="0" err="1"/>
              <a:t>Kết</a:t>
            </a:r>
            <a:r>
              <a:rPr lang="en-US" sz="2800" b="1" cap="all" dirty="0"/>
              <a:t> </a:t>
            </a:r>
            <a:r>
              <a:rPr lang="en-US" sz="2800" b="1" cap="all" dirty="0" err="1"/>
              <a:t>quả</a:t>
            </a:r>
            <a:r>
              <a:rPr lang="en-US" sz="2800" b="1" cap="all" dirty="0"/>
              <a:t> </a:t>
            </a:r>
            <a:r>
              <a:rPr lang="en-US" sz="2800" b="1" cap="all" dirty="0" err="1"/>
              <a:t>Backtest</a:t>
            </a:r>
            <a:r>
              <a:rPr lang="en-US" sz="2800" b="1" cap="all" dirty="0"/>
              <a:t> &amp; </a:t>
            </a:r>
            <a:r>
              <a:rPr lang="en-US" sz="2800" b="1" cap="all" dirty="0" err="1"/>
              <a:t>Trực</a:t>
            </a:r>
            <a:r>
              <a:rPr lang="en-US" sz="2800" b="1" cap="all" dirty="0"/>
              <a:t> </a:t>
            </a:r>
            <a:r>
              <a:rPr lang="en-US" sz="2800" b="1" cap="all" dirty="0" err="1"/>
              <a:t>quan</a:t>
            </a:r>
            <a:r>
              <a:rPr lang="en-US" sz="2800" b="1" cap="all" dirty="0"/>
              <a:t> </a:t>
            </a:r>
            <a:r>
              <a:rPr lang="en-US" sz="2800" b="1" cap="all" dirty="0" err="1" smtClean="0"/>
              <a:t>hóa</a:t>
            </a:r>
            <a:endParaRPr lang="en-US" sz="2800"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828800"/>
            <a:ext cx="8839200" cy="4163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85750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cap="all" dirty="0" err="1"/>
              <a:t>Hạn</a:t>
            </a:r>
            <a:r>
              <a:rPr lang="en-US" sz="2800" b="1" cap="all" dirty="0"/>
              <a:t> </a:t>
            </a:r>
            <a:r>
              <a:rPr lang="en-US" sz="2800" b="1" cap="all" dirty="0" err="1"/>
              <a:t>chế</a:t>
            </a:r>
            <a:r>
              <a:rPr lang="en-US" sz="2800" b="1" cap="all" dirty="0"/>
              <a:t> </a:t>
            </a:r>
            <a:r>
              <a:rPr lang="en-US" sz="2800" b="1" cap="all" dirty="0" err="1"/>
              <a:t>và</a:t>
            </a:r>
            <a:r>
              <a:rPr lang="en-US" sz="2800" b="1" cap="all" dirty="0"/>
              <a:t> </a:t>
            </a:r>
            <a:r>
              <a:rPr lang="en-US" sz="2800" b="1" cap="all" dirty="0" err="1"/>
              <a:t>Rủi</a:t>
            </a:r>
            <a:r>
              <a:rPr lang="en-US" sz="2800" b="1" cap="all" dirty="0"/>
              <a:t> </a:t>
            </a:r>
            <a:r>
              <a:rPr lang="en-US" sz="2800" b="1" cap="all" dirty="0" err="1" smtClean="0"/>
              <a:t>ro</a:t>
            </a:r>
            <a:endParaRPr lang="en-US" sz="2800" dirty="0"/>
          </a:p>
        </p:txBody>
      </p:sp>
      <p:graphicFrame>
        <p:nvGraphicFramePr>
          <p:cNvPr id="3" name="Table 2"/>
          <p:cNvGraphicFramePr>
            <a:graphicFrameLocks noGrp="1"/>
          </p:cNvGraphicFramePr>
          <p:nvPr>
            <p:extLst>
              <p:ext uri="{D42A27DB-BD31-4B8C-83A1-F6EECF244321}">
                <p14:modId xmlns:p14="http://schemas.microsoft.com/office/powerpoint/2010/main" val="4119361464"/>
              </p:ext>
            </p:extLst>
          </p:nvPr>
        </p:nvGraphicFramePr>
        <p:xfrm>
          <a:off x="152400" y="1676400"/>
          <a:ext cx="8839200" cy="4038600"/>
        </p:xfrm>
        <a:graphic>
          <a:graphicData uri="http://schemas.openxmlformats.org/drawingml/2006/table">
            <a:tbl>
              <a:tblPr firstRow="1" bandRow="1">
                <a:tableStyleId>{F2DE63D5-997A-4646-A377-4702673A728D}</a:tableStyleId>
              </a:tblPr>
              <a:tblGrid>
                <a:gridCol w="2946400"/>
                <a:gridCol w="2946400"/>
                <a:gridCol w="29464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vi-VN" kern="1200" dirty="0" smtClean="0">
                          <a:effectLst/>
                        </a:rPr>
                        <a:t>Hiện tượng Overfitting</a:t>
                      </a:r>
                      <a:endParaRPr kumimoji="0" lang="vi-VN" b="1" i="0" kern="1200" dirty="0" smtClean="0">
                        <a:solidFill>
                          <a:schemeClr val="lt1"/>
                        </a:solidFill>
                        <a:effectLst/>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vi-VN" b="1" i="0" kern="1200" dirty="0" smtClean="0">
                          <a:solidFill>
                            <a:schemeClr val="bg1"/>
                          </a:solidFill>
                          <a:effectLst/>
                          <a:latin typeface="+mn-lt"/>
                          <a:ea typeface="+mn-ea"/>
                          <a:cs typeface="+mn-cs"/>
                        </a:rPr>
                        <a:t>Biến cố Thiên nga đen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b="1" i="0" kern="1200" dirty="0" err="1" smtClean="0">
                          <a:solidFill>
                            <a:schemeClr val="bg1"/>
                          </a:solidFill>
                          <a:effectLst/>
                          <a:latin typeface="+mn-lt"/>
                          <a:ea typeface="+mn-ea"/>
                          <a:cs typeface="+mn-cs"/>
                        </a:rPr>
                        <a:t>Độ</a:t>
                      </a:r>
                      <a:r>
                        <a:rPr kumimoji="0" lang="en-US" b="1" i="0" kern="1200" dirty="0" smtClean="0">
                          <a:solidFill>
                            <a:schemeClr val="bg1"/>
                          </a:solidFill>
                          <a:effectLst/>
                          <a:latin typeface="+mn-lt"/>
                          <a:ea typeface="+mn-ea"/>
                          <a:cs typeface="+mn-cs"/>
                        </a:rPr>
                        <a:t> </a:t>
                      </a:r>
                      <a:r>
                        <a:rPr kumimoji="0" lang="en-US" b="1" i="0" kern="1200" dirty="0" err="1" smtClean="0">
                          <a:solidFill>
                            <a:schemeClr val="bg1"/>
                          </a:solidFill>
                          <a:effectLst/>
                          <a:latin typeface="+mn-lt"/>
                          <a:ea typeface="+mn-ea"/>
                          <a:cs typeface="+mn-cs"/>
                        </a:rPr>
                        <a:t>trễ</a:t>
                      </a:r>
                      <a:r>
                        <a:rPr kumimoji="0" lang="en-US" b="1" i="0" kern="1200" dirty="0" smtClean="0">
                          <a:solidFill>
                            <a:schemeClr val="bg1"/>
                          </a:solidFill>
                          <a:effectLst/>
                          <a:latin typeface="+mn-lt"/>
                          <a:ea typeface="+mn-ea"/>
                          <a:cs typeface="+mn-cs"/>
                        </a:rPr>
                        <a:t> </a:t>
                      </a:r>
                      <a:r>
                        <a:rPr kumimoji="0" lang="en-US" b="1" i="0" kern="1200" dirty="0" err="1" smtClean="0">
                          <a:solidFill>
                            <a:schemeClr val="bg1"/>
                          </a:solidFill>
                          <a:effectLst/>
                          <a:latin typeface="+mn-lt"/>
                          <a:ea typeface="+mn-ea"/>
                          <a:cs typeface="+mn-cs"/>
                        </a:rPr>
                        <a:t>hệ</a:t>
                      </a:r>
                      <a:r>
                        <a:rPr kumimoji="0" lang="en-US" b="1" i="0" kern="1200" dirty="0" smtClean="0">
                          <a:solidFill>
                            <a:schemeClr val="bg1"/>
                          </a:solidFill>
                          <a:effectLst/>
                          <a:latin typeface="+mn-lt"/>
                          <a:ea typeface="+mn-ea"/>
                          <a:cs typeface="+mn-cs"/>
                        </a:rPr>
                        <a:t> </a:t>
                      </a:r>
                      <a:r>
                        <a:rPr kumimoji="0" lang="en-US" b="1" i="0" kern="1200" dirty="0" err="1" smtClean="0">
                          <a:solidFill>
                            <a:schemeClr val="bg1"/>
                          </a:solidFill>
                          <a:effectLst/>
                          <a:latin typeface="+mn-lt"/>
                          <a:ea typeface="+mn-ea"/>
                          <a:cs typeface="+mn-cs"/>
                        </a:rPr>
                        <a:t>thống</a:t>
                      </a:r>
                      <a:endParaRPr kumimoji="0" lang="en-US" b="1" i="0" kern="1200" dirty="0" smtClean="0">
                        <a:solidFill>
                          <a:schemeClr val="bg1"/>
                        </a:solidFill>
                        <a:effectLst/>
                        <a:latin typeface="+mn-lt"/>
                        <a:ea typeface="+mn-ea"/>
                        <a:cs typeface="+mn-cs"/>
                      </a:endParaRPr>
                    </a:p>
                  </a:txBody>
                  <a:tcPr/>
                </a:tc>
              </a:tr>
              <a:tr h="3667760">
                <a:tc>
                  <a:txBody>
                    <a:bodyPr/>
                    <a:lstStyle/>
                    <a:p>
                      <a:r>
                        <a:rPr kumimoji="0" lang="vi-VN" b="0" i="0" kern="1200" dirty="0" smtClean="0">
                          <a:solidFill>
                            <a:schemeClr val="tx1"/>
                          </a:solidFill>
                          <a:effectLst/>
                          <a:latin typeface="+mn-lt"/>
                          <a:ea typeface="+mn-ea"/>
                          <a:cs typeface="+mn-cs"/>
                        </a:rPr>
                        <a:t>Mô hình quá khớp với dữ liệu quá khứ nhưng mất khả năng tổng quát hóa khi gặp bối cảnh thị trường mới.</a:t>
                      </a:r>
                      <a:endParaRPr lang="en-US" dirty="0"/>
                    </a:p>
                  </a:txBody>
                  <a:tcPr/>
                </a:tc>
                <a:tc>
                  <a:txBody>
                    <a:bodyPr/>
                    <a:lstStyle/>
                    <a:p>
                      <a:r>
                        <a:rPr kumimoji="0" lang="en-US" b="0" i="0" kern="1200" dirty="0" smtClean="0">
                          <a:solidFill>
                            <a:schemeClr val="tx1"/>
                          </a:solidFill>
                          <a:effectLst/>
                          <a:latin typeface="+mn-lt"/>
                          <a:ea typeface="+mn-ea"/>
                          <a:cs typeface="+mn-cs"/>
                        </a:rPr>
                        <a:t>K</a:t>
                      </a:r>
                      <a:r>
                        <a:rPr kumimoji="0" lang="vi-VN" b="0" i="0" kern="1200" dirty="0" smtClean="0">
                          <a:solidFill>
                            <a:schemeClr val="tx1"/>
                          </a:solidFill>
                          <a:effectLst/>
                          <a:latin typeface="+mn-lt"/>
                          <a:ea typeface="+mn-ea"/>
                          <a:cs typeface="+mn-cs"/>
                        </a:rPr>
                        <a:t>hông thể dự báo các sự kiện bất ngờ mang tính cực đoan như chiến tranh, dịch bệnh hay thay đổi chính sách đột ngột.</a:t>
                      </a:r>
                      <a:endParaRPr lang="en-US" dirty="0"/>
                    </a:p>
                  </a:txBody>
                  <a:tcPr/>
                </a:tc>
                <a:tc>
                  <a:txBody>
                    <a:bodyPr/>
                    <a:lstStyle/>
                    <a:p>
                      <a:r>
                        <a:rPr kumimoji="0" lang="vi-VN" b="0" i="0" kern="1200" dirty="0" smtClean="0">
                          <a:solidFill>
                            <a:schemeClr val="tx1"/>
                          </a:solidFill>
                          <a:effectLst/>
                          <a:latin typeface="+mn-lt"/>
                          <a:ea typeface="+mn-ea"/>
                          <a:cs typeface="+mn-cs"/>
                        </a:rPr>
                        <a:t>Thị trường là hệ thống mở, bị tác động mạnh bởi tâm lý con người phi lý trí mà các chỉ số kỹ thuật chưa phản ánh hết.</a:t>
                      </a:r>
                      <a:endParaRPr lang="en-US" dirty="0"/>
                    </a:p>
                  </a:txBody>
                  <a:tcPr/>
                </a:tc>
              </a:tr>
            </a:tbl>
          </a:graphicData>
        </a:graphic>
      </p:graphicFrame>
    </p:spTree>
    <p:extLst>
      <p:ext uri="{BB962C8B-B14F-4D97-AF65-F5344CB8AC3E}">
        <p14:creationId xmlns:p14="http://schemas.microsoft.com/office/powerpoint/2010/main" val="28886526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sz="2800" b="1" cap="all" dirty="0"/>
              <a:t>Kết luận &amp; Hướng phát </a:t>
            </a:r>
            <a:r>
              <a:rPr lang="vi-VN" sz="2800" b="1" cap="all" dirty="0" smtClean="0"/>
              <a:t>triển</a:t>
            </a:r>
            <a:endParaRPr lang="en-US" sz="2800" dirty="0"/>
          </a:p>
        </p:txBody>
      </p:sp>
      <p:sp>
        <p:nvSpPr>
          <p:cNvPr id="3" name="Content Placeholder 2"/>
          <p:cNvSpPr>
            <a:spLocks noGrp="1"/>
          </p:cNvSpPr>
          <p:nvPr>
            <p:ph sz="half" idx="1"/>
          </p:nvPr>
        </p:nvSpPr>
        <p:spPr/>
        <p:txBody>
          <a:bodyPr anchor="ctr"/>
          <a:lstStyle/>
          <a:p>
            <a:pPr marL="0" indent="0">
              <a:buNone/>
            </a:pPr>
            <a:r>
              <a:rPr lang="vi-VN" sz="1800" b="1" dirty="0"/>
              <a:t>AI là công cụ hỗ trợ mạnh mẽ, không phải "chén thánh".</a:t>
            </a:r>
          </a:p>
          <a:p>
            <a:r>
              <a:rPr lang="vi-VN" sz="1800" dirty="0"/>
              <a:t> Phân tích tin tức (Sentiment Analysis).</a:t>
            </a:r>
          </a:p>
          <a:p>
            <a:r>
              <a:rPr lang="vi-VN" sz="1800" dirty="0"/>
              <a:t> Sử dụng cơ chế Attention để tăng độ chính xác.</a:t>
            </a:r>
          </a:p>
          <a:p>
            <a:r>
              <a:rPr lang="vi-VN" sz="1800" dirty="0"/>
              <a:t> Tự động hóa giao dịch qua API sàn chứng khoán</a:t>
            </a:r>
            <a:r>
              <a:rPr lang="vi-VN" sz="1800" dirty="0" smtClean="0"/>
              <a:t>.</a:t>
            </a:r>
            <a:endParaRPr lang="vi-VN" dirty="0"/>
          </a:p>
        </p:txBody>
      </p:sp>
      <p:pic>
        <p:nvPicPr>
          <p:cNvPr id="3074" name="Picture 2" descr="Future of AI Trad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8200" y="2438400"/>
            <a:ext cx="4267200"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7512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p:txBody>
          <a:bodyPr/>
          <a:lstStyle/>
          <a:p>
            <a:r>
              <a:rPr lang="en-US" dirty="0" err="1" smtClean="0"/>
              <a:t>Cảm</a:t>
            </a:r>
            <a:r>
              <a:rPr lang="en-US" dirty="0" smtClean="0"/>
              <a:t> </a:t>
            </a:r>
            <a:r>
              <a:rPr lang="en-US" dirty="0" err="1" smtClean="0"/>
              <a:t>ơn</a:t>
            </a:r>
            <a:r>
              <a:rPr lang="en-US" dirty="0" smtClean="0"/>
              <a:t> </a:t>
            </a:r>
            <a:r>
              <a:rPr lang="en-US" dirty="0" err="1" smtClean="0"/>
              <a:t>đã</a:t>
            </a:r>
            <a:r>
              <a:rPr lang="en-US" dirty="0" smtClean="0"/>
              <a:t> </a:t>
            </a:r>
            <a:r>
              <a:rPr lang="en-US" dirty="0" err="1" smtClean="0"/>
              <a:t>lắng</a:t>
            </a:r>
            <a:r>
              <a:rPr lang="en-US" dirty="0" smtClean="0"/>
              <a:t> </a:t>
            </a:r>
            <a:r>
              <a:rPr lang="en-US" dirty="0" err="1" smtClean="0"/>
              <a:t>nghe</a:t>
            </a:r>
            <a:endParaRPr lang="en-US" dirty="0"/>
          </a:p>
        </p:txBody>
      </p:sp>
      <p:sp>
        <p:nvSpPr>
          <p:cNvPr id="5" name="Title 4"/>
          <p:cNvSpPr>
            <a:spLocks noGrp="1"/>
          </p:cNvSpPr>
          <p:nvPr>
            <p:ph type="ctrTitle"/>
          </p:nvPr>
        </p:nvSpPr>
        <p:spPr/>
        <p:txBody>
          <a:bodyPr/>
          <a:lstStyle/>
          <a:p>
            <a:r>
              <a:rPr lang="en-US" dirty="0" err="1" smtClean="0"/>
              <a:t>Hỏi</a:t>
            </a:r>
            <a:r>
              <a:rPr lang="en-US" dirty="0" smtClean="0"/>
              <a:t> &amp; </a:t>
            </a:r>
            <a:r>
              <a:rPr lang="en-US" dirty="0" err="1" smtClean="0"/>
              <a:t>Đáp</a:t>
            </a:r>
            <a:endParaRPr lang="en-US" dirty="0"/>
          </a:p>
        </p:txBody>
      </p:sp>
      <p:sp>
        <p:nvSpPr>
          <p:cNvPr id="7" name="Subtitle 2"/>
          <p:cNvSpPr txBox="1">
            <a:spLocks/>
          </p:cNvSpPr>
          <p:nvPr/>
        </p:nvSpPr>
        <p:spPr>
          <a:xfrm>
            <a:off x="533400" y="3733800"/>
            <a:ext cx="7854696" cy="1399736"/>
          </a:xfrm>
          <a:prstGeom prst="rect">
            <a:avLst/>
          </a:prstGeom>
        </p:spPr>
        <p:txBody>
          <a:bodyPr vert="horz" lIns="0" rIns="18288" anchor="b">
            <a:normAutofit/>
          </a:bodyPr>
          <a:lstStyle>
            <a:lvl1pPr marL="0" marR="45720" indent="0" algn="r" rtl="0" eaLnBrk="1" latinLnBrk="0" hangingPunct="1">
              <a:spcBef>
                <a:spcPct val="20000"/>
              </a:spcBef>
              <a:buClr>
                <a:schemeClr val="accent3"/>
              </a:buClr>
              <a:buSzPct val="95000"/>
              <a:buFont typeface="Wingdings 2"/>
              <a:buNone/>
              <a:defRPr kumimoji="0" sz="2600" kern="1200">
                <a:solidFill>
                  <a:schemeClr val="tx1"/>
                </a:solidFill>
                <a:latin typeface="+mn-lt"/>
                <a:ea typeface="+mn-ea"/>
                <a:cs typeface="+mn-cs"/>
              </a:defRPr>
            </a:lvl1pPr>
            <a:lvl2pPr marL="457200" indent="0" algn="ctr" rtl="0" eaLnBrk="1" latinLnBrk="0" hangingPunct="1">
              <a:spcBef>
                <a:spcPct val="20000"/>
              </a:spcBef>
              <a:buClr>
                <a:schemeClr val="accent1"/>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ct val="20000"/>
              </a:spcBef>
              <a:buClr>
                <a:schemeClr val="accent2"/>
              </a:buClr>
              <a:buSzPct val="70000"/>
              <a:buFont typeface="Wingdings 2"/>
              <a:buNone/>
              <a:defRPr kumimoji="0" sz="2100" kern="1200">
                <a:solidFill>
                  <a:schemeClr val="tx1"/>
                </a:solidFill>
                <a:latin typeface="+mn-lt"/>
                <a:ea typeface="+mn-ea"/>
                <a:cs typeface="+mn-cs"/>
              </a:defRPr>
            </a:lvl3pPr>
            <a:lvl4pPr marL="1371600" indent="0" algn="ctr" rtl="0" eaLnBrk="1" latinLnBrk="0" hangingPunct="1">
              <a:spcBef>
                <a:spcPct val="20000"/>
              </a:spcBef>
              <a:buClr>
                <a:schemeClr val="accent3"/>
              </a:buClr>
              <a:buSzPct val="65000"/>
              <a:buFont typeface="Wingdings 2"/>
              <a:buNone/>
              <a:defRPr kumimoji="0" sz="2000" kern="1200">
                <a:solidFill>
                  <a:schemeClr val="tx1"/>
                </a:solidFill>
                <a:latin typeface="+mn-lt"/>
                <a:ea typeface="+mn-ea"/>
                <a:cs typeface="+mn-cs"/>
              </a:defRPr>
            </a:lvl4pPr>
            <a:lvl5pPr marL="1828800" indent="0" algn="ctr" rtl="0" eaLnBrk="1" latinLnBrk="0" hangingPunct="1">
              <a:spcBef>
                <a:spcPct val="20000"/>
              </a:spcBef>
              <a:buClr>
                <a:schemeClr val="accent4"/>
              </a:buClr>
              <a:buSzPct val="65000"/>
              <a:buFont typeface="Wingdings 2"/>
              <a:buNone/>
              <a:defRPr kumimoji="0" sz="2000" kern="1200">
                <a:solidFill>
                  <a:schemeClr val="tx1"/>
                </a:solidFill>
                <a:latin typeface="+mn-lt"/>
                <a:ea typeface="+mn-ea"/>
                <a:cs typeface="+mn-cs"/>
              </a:defRPr>
            </a:lvl5pPr>
            <a:lvl6pPr marL="2286000" indent="0" algn="ctr" rtl="0" eaLnBrk="1" latinLnBrk="0" hangingPunct="1">
              <a:spcBef>
                <a:spcPct val="20000"/>
              </a:spcBef>
              <a:buClr>
                <a:schemeClr val="accent5"/>
              </a:buClr>
              <a:buSzPct val="80000"/>
              <a:buFont typeface="Wingdings 2"/>
              <a:buNone/>
              <a:defRPr kumimoji="0" sz="1800" kern="1200">
                <a:solidFill>
                  <a:schemeClr val="tx1"/>
                </a:solidFill>
                <a:latin typeface="+mn-lt"/>
                <a:ea typeface="+mn-ea"/>
                <a:cs typeface="+mn-cs"/>
              </a:defRPr>
            </a:lvl6pPr>
            <a:lvl7pPr marL="2743200" indent="0" algn="ctr" rtl="0" eaLnBrk="1" latinLnBrk="0" hangingPunct="1">
              <a:spcBef>
                <a:spcPct val="20000"/>
              </a:spcBef>
              <a:buClr>
                <a:schemeClr val="accent6"/>
              </a:buClr>
              <a:buSzPct val="80000"/>
              <a:buFont typeface="Wingdings 2"/>
              <a:buNone/>
              <a:defRPr kumimoji="0" sz="1600" kern="1200" baseline="0">
                <a:solidFill>
                  <a:schemeClr val="tx1"/>
                </a:solidFill>
                <a:latin typeface="+mn-lt"/>
                <a:ea typeface="+mn-ea"/>
                <a:cs typeface="+mn-cs"/>
              </a:defRPr>
            </a:lvl7pPr>
            <a:lvl8pPr marL="3200400" indent="0" algn="ctr" rtl="0" eaLnBrk="1" latinLnBrk="0" hangingPunct="1">
              <a:spcBef>
                <a:spcPct val="20000"/>
              </a:spcBef>
              <a:buClr>
                <a:schemeClr val="tx2"/>
              </a:buClr>
              <a:buNone/>
              <a:defRPr kumimoji="0" sz="1600" kern="1200">
                <a:solidFill>
                  <a:schemeClr val="tx1"/>
                </a:solidFill>
                <a:latin typeface="+mn-lt"/>
                <a:ea typeface="+mn-ea"/>
                <a:cs typeface="+mn-cs"/>
              </a:defRPr>
            </a:lvl8pPr>
            <a:lvl9pPr marL="3657600" indent="0" algn="ctr" rtl="0" eaLnBrk="1" latinLnBrk="0" hangingPunct="1">
              <a:spcBef>
                <a:spcPct val="20000"/>
              </a:spcBef>
              <a:buClr>
                <a:schemeClr val="tx2"/>
              </a:buClr>
              <a:buFontTx/>
              <a:buNone/>
              <a:defRPr kumimoji="0" sz="1400" kern="1200" baseline="0">
                <a:solidFill>
                  <a:schemeClr val="tx1"/>
                </a:solidFill>
                <a:latin typeface="+mn-lt"/>
                <a:ea typeface="+mn-ea"/>
                <a:cs typeface="+mn-cs"/>
              </a:defRPr>
            </a:lvl9pPr>
          </a:lstStyle>
          <a:p>
            <a:pPr algn="ctr"/>
            <a:r>
              <a:rPr lang="en-US" sz="1800" dirty="0" err="1" smtClean="0"/>
              <a:t>Mời</a:t>
            </a:r>
            <a:r>
              <a:rPr lang="en-US" sz="1800" dirty="0" smtClean="0"/>
              <a:t> </a:t>
            </a:r>
            <a:r>
              <a:rPr lang="en-US" sz="1800" dirty="0" err="1" smtClean="0"/>
              <a:t>các</a:t>
            </a:r>
            <a:r>
              <a:rPr lang="en-US" sz="1800" dirty="0" smtClean="0"/>
              <a:t> </a:t>
            </a:r>
            <a:r>
              <a:rPr lang="en-US" sz="1800" dirty="0" err="1" smtClean="0"/>
              <a:t>câu</a:t>
            </a:r>
            <a:r>
              <a:rPr lang="en-US" sz="1800" dirty="0" smtClean="0"/>
              <a:t> </a:t>
            </a:r>
            <a:r>
              <a:rPr lang="en-US" sz="1800" dirty="0" err="1" smtClean="0"/>
              <a:t>hỏi</a:t>
            </a:r>
            <a:r>
              <a:rPr lang="en-US" sz="1800" dirty="0" smtClean="0"/>
              <a:t> </a:t>
            </a:r>
            <a:r>
              <a:rPr lang="en-US" sz="1800" dirty="0" err="1" smtClean="0"/>
              <a:t>từ</a:t>
            </a:r>
            <a:r>
              <a:rPr lang="en-US" sz="1800" dirty="0" smtClean="0"/>
              <a:t> </a:t>
            </a:r>
            <a:r>
              <a:rPr lang="en-US" sz="1800" dirty="0" err="1" smtClean="0"/>
              <a:t>hội</a:t>
            </a:r>
            <a:r>
              <a:rPr lang="en-US" sz="1800" dirty="0" smtClean="0"/>
              <a:t> </a:t>
            </a:r>
            <a:r>
              <a:rPr lang="en-US" sz="1800" dirty="0" err="1" smtClean="0"/>
              <a:t>đồng</a:t>
            </a:r>
            <a:r>
              <a:rPr lang="en-US" sz="1800" dirty="0" smtClean="0"/>
              <a:t> </a:t>
            </a:r>
            <a:r>
              <a:rPr lang="en-US" sz="1800" dirty="0" err="1" smtClean="0"/>
              <a:t>và</a:t>
            </a:r>
            <a:r>
              <a:rPr lang="en-US" sz="1800" dirty="0" smtClean="0"/>
              <a:t> </a:t>
            </a:r>
            <a:r>
              <a:rPr lang="en-US" sz="1800" dirty="0" err="1" smtClean="0"/>
              <a:t>người</a:t>
            </a:r>
            <a:r>
              <a:rPr lang="en-US" sz="1800" dirty="0" smtClean="0"/>
              <a:t> </a:t>
            </a:r>
            <a:r>
              <a:rPr lang="en-US" sz="1800" dirty="0" err="1" smtClean="0"/>
              <a:t>nghe</a:t>
            </a:r>
            <a:r>
              <a:rPr lang="en-US" sz="1800" dirty="0" smtClean="0"/>
              <a:t>.</a:t>
            </a:r>
          </a:p>
          <a:p>
            <a:pPr algn="ctr"/>
            <a:endParaRPr lang="en-US" sz="1800" dirty="0" smtClean="0"/>
          </a:p>
          <a:p>
            <a:pPr algn="ctr"/>
            <a:r>
              <a:rPr lang="vi-VN" sz="1800" dirty="0" smtClean="0"/>
              <a:t>Người </a:t>
            </a:r>
            <a:r>
              <a:rPr lang="vi-VN" sz="1800" dirty="0"/>
              <a:t>trình bày: </a:t>
            </a:r>
            <a:r>
              <a:rPr lang="vi-VN" sz="1800" dirty="0"/>
              <a:t>Đỗ Mạnh Hoàng</a:t>
            </a:r>
            <a:r>
              <a:rPr lang="en-US" sz="1800" dirty="0"/>
              <a:t> – </a:t>
            </a:r>
            <a:r>
              <a:rPr lang="en-US" sz="1800" dirty="0" err="1"/>
              <a:t>Đinh</a:t>
            </a:r>
            <a:r>
              <a:rPr lang="en-US" sz="1800" dirty="0"/>
              <a:t> </a:t>
            </a:r>
            <a:r>
              <a:rPr lang="en-US" sz="1800" dirty="0" err="1"/>
              <a:t>Trịnh</a:t>
            </a:r>
            <a:r>
              <a:rPr lang="en-US" sz="1800" dirty="0"/>
              <a:t> </a:t>
            </a:r>
            <a:r>
              <a:rPr lang="en-US" sz="1800" dirty="0" err="1"/>
              <a:t>Thanh</a:t>
            </a:r>
            <a:r>
              <a:rPr lang="en-US" sz="1800" dirty="0"/>
              <a:t> </a:t>
            </a:r>
            <a:r>
              <a:rPr lang="en-US" sz="1800" dirty="0" err="1" smtClean="0"/>
              <a:t>Vy</a:t>
            </a:r>
            <a:endParaRPr lang="en-US" sz="1800" dirty="0"/>
          </a:p>
        </p:txBody>
      </p:sp>
    </p:spTree>
    <p:extLst>
      <p:ext uri="{BB962C8B-B14F-4D97-AF65-F5344CB8AC3E}">
        <p14:creationId xmlns:p14="http://schemas.microsoft.com/office/powerpoint/2010/main" val="413438964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831</TotalTime>
  <Words>1152</Words>
  <Application>Microsoft Office PowerPoint</Application>
  <PresentationFormat>On-screen Show (4:3)</PresentationFormat>
  <Paragraphs>80</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Civic</vt:lpstr>
      <vt:lpstr>Mạng LSTM Đa Biến Cho Dự Báo Giá Chứng Khoán Ngắn Hạn</vt:lpstr>
      <vt:lpstr>Phân tích kỹ thuật là gì?</vt:lpstr>
      <vt:lpstr>CÁC CÔNG CỤ PHỔ BIẾN NHẤT</vt:lpstr>
      <vt:lpstr>Đường trung bình động (Moving Average - MA) &amp; Chỉ số sức mạnh tương đối (RSI)</vt:lpstr>
      <vt:lpstr>Tại sao dùng LSTM cho Chứng khoán?</vt:lpstr>
      <vt:lpstr>Quy trình xây dựng mô hình</vt:lpstr>
      <vt:lpstr>Kiến trúc mô hình Đa biến</vt:lpstr>
      <vt:lpstr>Dự báo tương lai (Encoder-Decoder)</vt:lpstr>
      <vt:lpstr>Kết quả Backtest &amp; Trực quan hóa</vt:lpstr>
      <vt:lpstr>Hạn chế và Rủi ro</vt:lpstr>
      <vt:lpstr>Kết luận &amp; Hướng phát triển</vt:lpstr>
      <vt:lpstr>Hỏi &amp; Đáp</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Ứng dụng LSTM trong Phân tích kỹ thuật chứng khoán</dc:title>
  <dc:creator>hoangdo</dc:creator>
  <cp:lastModifiedBy>hoangdo</cp:lastModifiedBy>
  <cp:revision>45</cp:revision>
  <dcterms:created xsi:type="dcterms:W3CDTF">2026-01-03T02:12:42Z</dcterms:created>
  <dcterms:modified xsi:type="dcterms:W3CDTF">2026-01-20T11:33:07Z</dcterms:modified>
</cp:coreProperties>
</file>